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1089600" cy="31089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3" d="100"/>
          <a:sy n="33" d="100"/>
        </p:scale>
        <p:origin x="643" y="-20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34 × 34 inch editable poster. Source: current supplied PlanForge_COLM_CR_draft.pdf, main paper pages 1–10, freshly extracted as poster_story/source-current-review.txt. Motivation follows the Abstract's definition of reliable planning, and Table 1 supports the blueprint gap. The Table 1 excerpt preserves the exact feature names and supported/unsupported entries for AutoToS, SCOPE and PlanForge; it does not imply AutoToS lacks reuse. Research Gap and Research Statement retain the accepted wording. The unrelated StructureSAT prediction table from Table 6 is removed from Motivation. Table 2 reproduces the complete main-paper performance block, with original methods, metrics and values. The cost block is omitted because the user explicitly requested the separately supplied updated cost graphic. NaturalPlan success rate checks constraint satisfaction; exact match is checked first, then an LLM judge checks unmatched outputs, per Section 4.1. NaturalPlan's 97.55% Exact Match is from Section 5.1. Plan Gen. has 15 domains and plans exceeding 600 actions; accuracy is VAL-verified and errors concentrate in Hanoi and Alfworld. StructureSAT has nine CNF families, no natural-language descriptions, and requires a valid satisfying assignment when one exists. GPT-5.4 Architect, Codex Builder, zero-shot CoT and reimplemented SCOPE follow Section 4.2. The methodology and updated cost figures are embedded unchanged, with proportional placement and no internal edits or crops. The cost graphic is widened from 1480 to 2440 px. The Guided PlanForge configuration and 91.10% versus 100.00% results are from Section 5.6 and Table 7, on Plan Gen Easy with 0–2 reference actions. AutoToS-inspired identifies the source's inspiration from Katz et al. 2024 and Cao et al. 2026; these are not presented as results of a separately measured original AutoToS implementation. NaturalPlan uses JSON rather than PDDL for its Guided representation, per Section 5.6; the poster's PDDL configuration describes the displayed Plan Gen Easy experiment. The conclusion follows Section 6 and concerns measured performance and amortized API cost, not universally lower upfront cost or zero local computation cost. Title, full author list, affiliations and original UMBC, IBM and COLM branding retained. All narrative text, headings, feature table, results table and ablation scores are native editable objects. Only source figures and logos are pictures.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6C9BB54-2A66-42CE-A4EB-EA528861110D}"/>
              </a:ext>
            </a:extLst>
          </p:cNvPr>
          <p:cNvSpPr>
            <a:spLocks noGrp="1"/>
          </p:cNvSpPr>
          <p:nvPr/>
        </p:nvSpPr>
        <p:spPr>
          <a:xfrm>
            <a:off x="14767560" y="10017760"/>
            <a:ext cx="1554480" cy="17272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4C54858-ED33-4FE1-BB60-33FD8ABD0A6D}"/>
              </a:ext>
            </a:extLst>
          </p:cNvPr>
          <p:cNvSpPr>
            <a:spLocks noGrp="1"/>
          </p:cNvSpPr>
          <p:nvPr>
            <p:ph type="title"/>
          </p:nvPr>
        </p:nvSpPr>
        <p:spPr>
          <a:xfrm>
            <a:off x="3108960" y="11744960"/>
            <a:ext cx="24871680" cy="449072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6D587E5F-7DCF-4A9B-AE1B-1695DAD4DE9E}"/>
              </a:ext>
            </a:extLst>
          </p:cNvPr>
          <p:cNvSpPr>
            <a:spLocks noGrp="1"/>
          </p:cNvSpPr>
          <p:nvPr>
            <p:ph type="subTitle" idx="1"/>
          </p:nvPr>
        </p:nvSpPr>
        <p:spPr>
          <a:xfrm>
            <a:off x="4663440" y="17099280"/>
            <a:ext cx="21762720" cy="34544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E9A85F93-DDAA-405E-9C9E-EC9F45DA85A2}"/>
              </a:ext>
            </a:extLst>
          </p:cNvPr>
          <p:cNvSpPr>
            <a:spLocks noGrp="1"/>
          </p:cNvSpPr>
          <p:nvPr/>
        </p:nvSpPr>
        <p:spPr>
          <a:xfrm>
            <a:off x="14767560" y="11226800"/>
            <a:ext cx="1554480" cy="17272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E774449B-873B-4426-9C15-02869C907E52}"/>
              </a:ext>
            </a:extLst>
          </p:cNvPr>
          <p:cNvSpPr>
            <a:spLocks noGrp="1"/>
          </p:cNvSpPr>
          <p:nvPr>
            <p:ph type="title"/>
          </p:nvPr>
        </p:nvSpPr>
        <p:spPr>
          <a:xfrm>
            <a:off x="3108960" y="12954000"/>
            <a:ext cx="24871680" cy="5181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CC59DD-8746-4945-A5AE-378679DD95FB}"/>
              </a:ext>
            </a:extLst>
          </p:cNvPr>
          <p:cNvSpPr>
            <a:spLocks noGrp="1"/>
          </p:cNvSpPr>
          <p:nvPr/>
        </p:nvSpPr>
        <p:spPr>
          <a:xfrm>
            <a:off x="1748790" y="6908800"/>
            <a:ext cx="1554480" cy="17272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8BF4DDA5-67AB-41AB-B7D3-20746EF425B7}"/>
              </a:ext>
            </a:extLst>
          </p:cNvPr>
          <p:cNvSpPr>
            <a:spLocks noGrp="1"/>
          </p:cNvSpPr>
          <p:nvPr>
            <p:ph type="title"/>
          </p:nvPr>
        </p:nvSpPr>
        <p:spPr>
          <a:xfrm>
            <a:off x="1748790" y="2418080"/>
            <a:ext cx="27592020" cy="379984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76B7E28D-77AF-49D6-AD87-5BD2946989B7}"/>
              </a:ext>
            </a:extLst>
          </p:cNvPr>
          <p:cNvSpPr>
            <a:spLocks noGrp="1"/>
          </p:cNvSpPr>
          <p:nvPr>
            <p:ph type="body" idx="1"/>
          </p:nvPr>
        </p:nvSpPr>
        <p:spPr>
          <a:xfrm>
            <a:off x="1748790" y="8636000"/>
            <a:ext cx="27592020" cy="19344640"/>
          </a:xfrm>
          <a:prstGeom prst="rect">
            <a:avLst/>
          </a:prstGeom>
          <a:noFill/>
          <a:ln>
            <a:noFill/>
            <a:prstDash val="solid"/>
          </a:ln>
        </p:spPr>
        <p:txBody>
          <a:bodyPr wrap="square" lIns="0" tIns="0" rIns="0" bIns="0" anchor="t">
            <a:normAutofit/>
          </a:bodyPr>
          <a:lstStyle>
            <a:lvl1pPr marL="582930" indent="-582930">
              <a:lnSpc>
                <a:spcPct val="110000"/>
              </a:lnSpc>
              <a:spcBef>
                <a:spcPts val="0"/>
              </a:spcBef>
              <a:spcAft>
                <a:spcPts val="3060"/>
              </a:spcAft>
              <a:buChar char="•"/>
            </a:lvl1pPr>
            <a:lvl2pPr marL="1360170" indent="-582930">
              <a:lnSpc>
                <a:spcPct val="110000"/>
              </a:lnSpc>
              <a:spcBef>
                <a:spcPts val="0"/>
              </a:spcBef>
              <a:spcAft>
                <a:spcPts val="3060"/>
              </a:spcAft>
              <a:buChar char="•"/>
            </a:lvl2pPr>
            <a:lvl3pPr marL="2137410" indent="-582930">
              <a:lnSpc>
                <a:spcPct val="110000"/>
              </a:lnSpc>
              <a:spcBef>
                <a:spcPts val="0"/>
              </a:spcBef>
              <a:spcAft>
                <a:spcPts val="3060"/>
              </a:spcAft>
              <a:buChar char="•"/>
            </a:lvl3pPr>
            <a:lvl4pPr marL="2914650" indent="-582930">
              <a:lnSpc>
                <a:spcPct val="110000"/>
              </a:lnSpc>
              <a:spcBef>
                <a:spcPts val="0"/>
              </a:spcBef>
              <a:spcAft>
                <a:spcPts val="3060"/>
              </a:spcAft>
              <a:buChar char="•"/>
            </a:lvl4pPr>
            <a:lvl5pPr marL="3691890" indent="-582930">
              <a:lnSpc>
                <a:spcPct val="110000"/>
              </a:lnSpc>
              <a:spcBef>
                <a:spcPts val="0"/>
              </a:spcBef>
              <a:spcAft>
                <a:spcPts val="3060"/>
              </a:spcAft>
              <a:buChar char="•"/>
            </a:lvl5pPr>
            <a:lvl6pPr marL="4469130" indent="-582930">
              <a:lnSpc>
                <a:spcPct val="110000"/>
              </a:lnSpc>
              <a:spcBef>
                <a:spcPts val="0"/>
              </a:spcBef>
              <a:spcAft>
                <a:spcPts val="3060"/>
              </a:spcAft>
              <a:buChar char="•"/>
            </a:lvl6pPr>
            <a:lvl7pPr marL="5246370" indent="-582930">
              <a:lnSpc>
                <a:spcPct val="110000"/>
              </a:lnSpc>
              <a:spcBef>
                <a:spcPts val="0"/>
              </a:spcBef>
              <a:spcAft>
                <a:spcPts val="3060"/>
              </a:spcAft>
              <a:buChar char="•"/>
            </a:lvl7pPr>
            <a:lvl8pPr marL="6023610" indent="-582930">
              <a:lnSpc>
                <a:spcPct val="110000"/>
              </a:lnSpc>
              <a:spcBef>
                <a:spcPts val="0"/>
              </a:spcBef>
              <a:spcAft>
                <a:spcPts val="3060"/>
              </a:spcAft>
              <a:buChar char="•"/>
            </a:lvl8pPr>
            <a:lvl9pPr marL="6800850" indent="-582930">
              <a:lnSpc>
                <a:spcPct val="110000"/>
              </a:lnSpc>
              <a:spcBef>
                <a:spcPts val="0"/>
              </a:spcBef>
              <a:spcAft>
                <a:spcPts val="306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3A347365-339A-41AB-919C-F5554CC11E1C}"/>
              </a:ext>
            </a:extLst>
          </p:cNvPr>
          <p:cNvSpPr>
            <a:spLocks noGrp="1"/>
          </p:cNvSpPr>
          <p:nvPr/>
        </p:nvSpPr>
        <p:spPr>
          <a:xfrm>
            <a:off x="1748790" y="6908800"/>
            <a:ext cx="1554480" cy="17272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DB5787D-FED2-471F-8978-8DA4DE64390F}"/>
              </a:ext>
            </a:extLst>
          </p:cNvPr>
          <p:cNvSpPr>
            <a:spLocks noGrp="1"/>
          </p:cNvSpPr>
          <p:nvPr>
            <p:ph type="title"/>
          </p:nvPr>
        </p:nvSpPr>
        <p:spPr>
          <a:xfrm>
            <a:off x="1748790" y="2418080"/>
            <a:ext cx="27592020" cy="379984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E5F5738C-8104-4808-8744-FD26B1532E48}"/>
              </a:ext>
            </a:extLst>
          </p:cNvPr>
          <p:cNvSpPr>
            <a:spLocks noGrp="1"/>
          </p:cNvSpPr>
          <p:nvPr>
            <p:ph type="body" idx="1"/>
          </p:nvPr>
        </p:nvSpPr>
        <p:spPr>
          <a:xfrm>
            <a:off x="1748790" y="8636000"/>
            <a:ext cx="12824460" cy="19344640"/>
          </a:xfrm>
          <a:prstGeom prst="rect">
            <a:avLst/>
          </a:prstGeom>
          <a:noFill/>
          <a:ln>
            <a:noFill/>
            <a:prstDash val="solid"/>
          </a:ln>
        </p:spPr>
        <p:txBody>
          <a:bodyPr wrap="square" lIns="0" tIns="0" rIns="0" bIns="0" anchor="t">
            <a:normAutofit/>
          </a:bodyPr>
          <a:lstStyle>
            <a:lvl1pPr marL="582930" indent="-582930">
              <a:lnSpc>
                <a:spcPct val="110000"/>
              </a:lnSpc>
              <a:spcBef>
                <a:spcPts val="0"/>
              </a:spcBef>
              <a:spcAft>
                <a:spcPts val="3060"/>
              </a:spcAft>
              <a:buChar char="•"/>
            </a:lvl1pPr>
            <a:lvl2pPr marL="1360170" indent="-582930">
              <a:lnSpc>
                <a:spcPct val="110000"/>
              </a:lnSpc>
              <a:spcBef>
                <a:spcPts val="0"/>
              </a:spcBef>
              <a:spcAft>
                <a:spcPts val="3060"/>
              </a:spcAft>
              <a:buChar char="•"/>
            </a:lvl2pPr>
            <a:lvl3pPr marL="2137410" indent="-582930">
              <a:lnSpc>
                <a:spcPct val="110000"/>
              </a:lnSpc>
              <a:spcBef>
                <a:spcPts val="0"/>
              </a:spcBef>
              <a:spcAft>
                <a:spcPts val="3060"/>
              </a:spcAft>
              <a:buChar char="•"/>
            </a:lvl3pPr>
            <a:lvl4pPr marL="2914650" indent="-582930">
              <a:lnSpc>
                <a:spcPct val="110000"/>
              </a:lnSpc>
              <a:spcBef>
                <a:spcPts val="0"/>
              </a:spcBef>
              <a:spcAft>
                <a:spcPts val="3060"/>
              </a:spcAft>
              <a:buChar char="•"/>
            </a:lvl4pPr>
            <a:lvl5pPr marL="3691890" indent="-582930">
              <a:lnSpc>
                <a:spcPct val="110000"/>
              </a:lnSpc>
              <a:spcBef>
                <a:spcPts val="0"/>
              </a:spcBef>
              <a:spcAft>
                <a:spcPts val="3060"/>
              </a:spcAft>
              <a:buChar char="•"/>
            </a:lvl5pPr>
            <a:lvl6pPr marL="4469130" indent="-582930">
              <a:lnSpc>
                <a:spcPct val="110000"/>
              </a:lnSpc>
              <a:spcBef>
                <a:spcPts val="0"/>
              </a:spcBef>
              <a:spcAft>
                <a:spcPts val="3060"/>
              </a:spcAft>
              <a:buChar char="•"/>
            </a:lvl6pPr>
            <a:lvl7pPr marL="5246370" indent="-582930">
              <a:lnSpc>
                <a:spcPct val="110000"/>
              </a:lnSpc>
              <a:spcBef>
                <a:spcPts val="0"/>
              </a:spcBef>
              <a:spcAft>
                <a:spcPts val="3060"/>
              </a:spcAft>
              <a:buChar char="•"/>
            </a:lvl7pPr>
            <a:lvl8pPr marL="6023610" indent="-582930">
              <a:lnSpc>
                <a:spcPct val="110000"/>
              </a:lnSpc>
              <a:spcBef>
                <a:spcPts val="0"/>
              </a:spcBef>
              <a:spcAft>
                <a:spcPts val="3060"/>
              </a:spcAft>
              <a:buChar char="•"/>
            </a:lvl8pPr>
            <a:lvl9pPr marL="6800850" indent="-582930">
              <a:lnSpc>
                <a:spcPct val="110000"/>
              </a:lnSpc>
              <a:spcBef>
                <a:spcPts val="0"/>
              </a:spcBef>
              <a:spcAft>
                <a:spcPts val="3060"/>
              </a:spcAft>
              <a:buChar char="•"/>
            </a:lvl9pPr>
          </a:lstStyle>
          <a:p>
            <a:endParaRPr/>
          </a:p>
        </p:txBody>
      </p:sp>
      <p:sp>
        <p:nvSpPr>
          <p:cNvPr id="4" name="Right column">
            <a:extLst>
              <a:ext uri="{FF2B5EF4-FFF2-40B4-BE49-F238E27FC236}">
                <a16:creationId xmlns:a16="http://schemas.microsoft.com/office/drawing/2014/main" id="{E582D2DB-D312-4470-8926-80DFE2126208}"/>
              </a:ext>
            </a:extLst>
          </p:cNvPr>
          <p:cNvSpPr>
            <a:spLocks noGrp="1"/>
          </p:cNvSpPr>
          <p:nvPr>
            <p:ph type="body" idx="2"/>
          </p:nvPr>
        </p:nvSpPr>
        <p:spPr>
          <a:xfrm>
            <a:off x="16516350" y="8636000"/>
            <a:ext cx="12824460" cy="19344640"/>
          </a:xfrm>
          <a:prstGeom prst="rect">
            <a:avLst/>
          </a:prstGeom>
          <a:noFill/>
          <a:ln>
            <a:noFill/>
            <a:prstDash val="solid"/>
          </a:ln>
        </p:spPr>
        <p:txBody>
          <a:bodyPr wrap="square" lIns="0" tIns="0" rIns="0" bIns="0" anchor="t">
            <a:normAutofit/>
          </a:bodyPr>
          <a:lstStyle>
            <a:lvl1pPr marL="582930" indent="-582930">
              <a:lnSpc>
                <a:spcPct val="110000"/>
              </a:lnSpc>
              <a:spcBef>
                <a:spcPts val="0"/>
              </a:spcBef>
              <a:spcAft>
                <a:spcPts val="3060"/>
              </a:spcAft>
              <a:buChar char="•"/>
            </a:lvl1pPr>
            <a:lvl2pPr marL="1360170" indent="-582930">
              <a:lnSpc>
                <a:spcPct val="110000"/>
              </a:lnSpc>
              <a:spcBef>
                <a:spcPts val="0"/>
              </a:spcBef>
              <a:spcAft>
                <a:spcPts val="3060"/>
              </a:spcAft>
              <a:buChar char="•"/>
            </a:lvl2pPr>
            <a:lvl3pPr marL="2137410" indent="-582930">
              <a:lnSpc>
                <a:spcPct val="110000"/>
              </a:lnSpc>
              <a:spcBef>
                <a:spcPts val="0"/>
              </a:spcBef>
              <a:spcAft>
                <a:spcPts val="3060"/>
              </a:spcAft>
              <a:buChar char="•"/>
            </a:lvl3pPr>
            <a:lvl4pPr marL="2914650" indent="-582930">
              <a:lnSpc>
                <a:spcPct val="110000"/>
              </a:lnSpc>
              <a:spcBef>
                <a:spcPts val="0"/>
              </a:spcBef>
              <a:spcAft>
                <a:spcPts val="3060"/>
              </a:spcAft>
              <a:buChar char="•"/>
            </a:lvl4pPr>
            <a:lvl5pPr marL="3691890" indent="-582930">
              <a:lnSpc>
                <a:spcPct val="110000"/>
              </a:lnSpc>
              <a:spcBef>
                <a:spcPts val="0"/>
              </a:spcBef>
              <a:spcAft>
                <a:spcPts val="3060"/>
              </a:spcAft>
              <a:buChar char="•"/>
            </a:lvl5pPr>
            <a:lvl6pPr marL="4469130" indent="-582930">
              <a:lnSpc>
                <a:spcPct val="110000"/>
              </a:lnSpc>
              <a:spcBef>
                <a:spcPts val="0"/>
              </a:spcBef>
              <a:spcAft>
                <a:spcPts val="3060"/>
              </a:spcAft>
              <a:buChar char="•"/>
            </a:lvl6pPr>
            <a:lvl7pPr marL="5246370" indent="-582930">
              <a:lnSpc>
                <a:spcPct val="110000"/>
              </a:lnSpc>
              <a:spcBef>
                <a:spcPts val="0"/>
              </a:spcBef>
              <a:spcAft>
                <a:spcPts val="3060"/>
              </a:spcAft>
              <a:buChar char="•"/>
            </a:lvl7pPr>
            <a:lvl8pPr marL="6023610" indent="-582930">
              <a:lnSpc>
                <a:spcPct val="110000"/>
              </a:lnSpc>
              <a:spcBef>
                <a:spcPts val="0"/>
              </a:spcBef>
              <a:spcAft>
                <a:spcPts val="3060"/>
              </a:spcAft>
              <a:buChar char="•"/>
            </a:lvl8pPr>
            <a:lvl9pPr marL="6800850" indent="-582930">
              <a:lnSpc>
                <a:spcPct val="110000"/>
              </a:lnSpc>
              <a:spcBef>
                <a:spcPts val="0"/>
              </a:spcBef>
              <a:spcAft>
                <a:spcPts val="306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E956E67C-B91F-4C53-AEE1-C7ACFBBB7BEF}"/>
              </a:ext>
            </a:extLst>
          </p:cNvPr>
          <p:cNvSpPr>
            <a:spLocks noGrp="1"/>
          </p:cNvSpPr>
          <p:nvPr/>
        </p:nvSpPr>
        <p:spPr>
          <a:xfrm>
            <a:off x="1748790" y="6908800"/>
            <a:ext cx="1554480" cy="17272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17A21FB-2820-41CF-ABB3-DE9FB7135940}"/>
              </a:ext>
            </a:extLst>
          </p:cNvPr>
          <p:cNvSpPr>
            <a:spLocks noGrp="1"/>
          </p:cNvSpPr>
          <p:nvPr>
            <p:ph type="title"/>
          </p:nvPr>
        </p:nvSpPr>
        <p:spPr>
          <a:xfrm>
            <a:off x="1748790" y="2418080"/>
            <a:ext cx="27592020" cy="379984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00A36BE-4B5B-4D3B-B9C3-DB76CB962E99}"/>
              </a:ext>
            </a:extLst>
          </p:cNvPr>
          <p:cNvSpPr>
            <a:spLocks noGrp="1"/>
          </p:cNvSpPr>
          <p:nvPr>
            <p:ph type="body" idx="1"/>
          </p:nvPr>
        </p:nvSpPr>
        <p:spPr>
          <a:xfrm>
            <a:off x="1748790" y="8636000"/>
            <a:ext cx="12824460" cy="19344640"/>
          </a:xfrm>
          <a:prstGeom prst="rect">
            <a:avLst/>
          </a:prstGeom>
          <a:noFill/>
          <a:ln>
            <a:noFill/>
            <a:prstDash val="solid"/>
          </a:ln>
        </p:spPr>
        <p:txBody>
          <a:bodyPr wrap="square" lIns="0" tIns="0" rIns="0" bIns="0" anchor="t">
            <a:normAutofit/>
          </a:bodyPr>
          <a:lstStyle>
            <a:lvl1pPr marL="582930" indent="-582930">
              <a:lnSpc>
                <a:spcPct val="110000"/>
              </a:lnSpc>
              <a:spcBef>
                <a:spcPts val="0"/>
              </a:spcBef>
              <a:spcAft>
                <a:spcPts val="3060"/>
              </a:spcAft>
              <a:buChar char="•"/>
            </a:lvl1pPr>
            <a:lvl2pPr marL="1360170" indent="-582930">
              <a:lnSpc>
                <a:spcPct val="110000"/>
              </a:lnSpc>
              <a:spcBef>
                <a:spcPts val="0"/>
              </a:spcBef>
              <a:spcAft>
                <a:spcPts val="3060"/>
              </a:spcAft>
              <a:buChar char="•"/>
            </a:lvl2pPr>
            <a:lvl3pPr marL="2137410" indent="-582930">
              <a:lnSpc>
                <a:spcPct val="110000"/>
              </a:lnSpc>
              <a:spcBef>
                <a:spcPts val="0"/>
              </a:spcBef>
              <a:spcAft>
                <a:spcPts val="3060"/>
              </a:spcAft>
              <a:buChar char="•"/>
            </a:lvl3pPr>
            <a:lvl4pPr marL="2914650" indent="-582930">
              <a:lnSpc>
                <a:spcPct val="110000"/>
              </a:lnSpc>
              <a:spcBef>
                <a:spcPts val="0"/>
              </a:spcBef>
              <a:spcAft>
                <a:spcPts val="3060"/>
              </a:spcAft>
              <a:buChar char="•"/>
            </a:lvl4pPr>
            <a:lvl5pPr marL="3691890" indent="-582930">
              <a:lnSpc>
                <a:spcPct val="110000"/>
              </a:lnSpc>
              <a:spcBef>
                <a:spcPts val="0"/>
              </a:spcBef>
              <a:spcAft>
                <a:spcPts val="3060"/>
              </a:spcAft>
              <a:buChar char="•"/>
            </a:lvl5pPr>
            <a:lvl6pPr marL="4469130" indent="-582930">
              <a:lnSpc>
                <a:spcPct val="110000"/>
              </a:lnSpc>
              <a:spcBef>
                <a:spcPts val="0"/>
              </a:spcBef>
              <a:spcAft>
                <a:spcPts val="3060"/>
              </a:spcAft>
              <a:buChar char="•"/>
            </a:lvl6pPr>
            <a:lvl7pPr marL="5246370" indent="-582930">
              <a:lnSpc>
                <a:spcPct val="110000"/>
              </a:lnSpc>
              <a:spcBef>
                <a:spcPts val="0"/>
              </a:spcBef>
              <a:spcAft>
                <a:spcPts val="3060"/>
              </a:spcAft>
              <a:buChar char="•"/>
            </a:lvl7pPr>
            <a:lvl8pPr marL="6023610" indent="-582930">
              <a:lnSpc>
                <a:spcPct val="110000"/>
              </a:lnSpc>
              <a:spcBef>
                <a:spcPts val="0"/>
              </a:spcBef>
              <a:spcAft>
                <a:spcPts val="3060"/>
              </a:spcAft>
              <a:buChar char="•"/>
            </a:lvl8pPr>
            <a:lvl9pPr marL="6800850" indent="-582930">
              <a:lnSpc>
                <a:spcPct val="110000"/>
              </a:lnSpc>
              <a:spcBef>
                <a:spcPts val="0"/>
              </a:spcBef>
              <a:spcAft>
                <a:spcPts val="306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planforge-abr.github.io/"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8" name="Picture 47"/>
          <p:cNvPicPr>
            <a:picLocks noChangeAspect="1"/>
          </p:cNvPicPr>
          <p:nvPr/>
        </p:nvPicPr>
        <p:blipFill>
          <a:blip r:embed="rId3"/>
          <a:stretch/>
        </p:blipFill>
        <p:spPr>
          <a:xfrm>
            <a:off x="762219" y="771525"/>
            <a:ext cx="4047686" cy="932498"/>
          </a:xfrm>
          <a:prstGeom prst="rect">
            <a:avLst/>
          </a:prstGeom>
        </p:spPr>
      </p:pic>
      <p:pic>
        <p:nvPicPr>
          <p:cNvPr id="49" name="Graphic 48"/>
          <p:cNvPicPr>
            <a:picLocks noChangeAspect="1"/>
          </p:cNvPicPr>
          <p:nvPr/>
        </p:nvPicPr>
        <p:blipFill>
          <a:blip>
            <a:extLst>
              <a:ext uri="{96DAC541-7B7A-43D3-8B79-37D633B846F1}">
                <asvg:svgBlip xmlns:asvg="http://schemas.microsoft.com/office/drawing/2016/SVG/main" r:embed="rId4"/>
              </a:ext>
            </a:extLst>
          </a:blip>
          <a:stretch/>
        </p:blipFill>
        <p:spPr>
          <a:xfrm>
            <a:off x="1866900" y="2114550"/>
            <a:ext cx="1924050" cy="834390"/>
          </a:xfrm>
          <a:prstGeom prst="rect">
            <a:avLst/>
          </a:prstGeom>
        </p:spPr>
      </p:pic>
      <p:sp>
        <p:nvSpPr>
          <p:cNvPr id="3" name="background-1">
            <a:extLst>
              <a:ext uri="{FF2B5EF4-FFF2-40B4-BE49-F238E27FC236}">
                <a16:creationId xmlns:a16="http://schemas.microsoft.com/office/drawing/2014/main" id="{E18C9C43-40E6-4182-A3AC-20DBD68A5813}"/>
              </a:ext>
            </a:extLst>
          </p:cNvPr>
          <p:cNvSpPr>
            <a:spLocks noGrp="1"/>
          </p:cNvSpPr>
          <p:nvPr/>
        </p:nvSpPr>
        <p:spPr>
          <a:xfrm>
            <a:off x="26831925" y="476250"/>
            <a:ext cx="3495675" cy="1838325"/>
          </a:xfrm>
          <a:prstGeom prst="rect">
            <a:avLst/>
          </a:prstGeom>
          <a:solidFill>
            <a:srgbClr val="0D3075"/>
          </a:solidFill>
          <a:ln w="0">
            <a:noFill/>
          </a:ln>
        </p:spPr>
      </p:sp>
      <p:pic>
        <p:nvPicPr>
          <p:cNvPr id="51" name="Graphic 50"/>
          <p:cNvPicPr>
            <a:picLocks noChangeAspect="1"/>
          </p:cNvPicPr>
          <p:nvPr/>
        </p:nvPicPr>
        <p:blipFill>
          <a:blip>
            <a:extLst>
              <a:ext uri="{96DAC541-7B7A-43D3-8B79-37D633B846F1}">
                <asvg:svgBlip xmlns:asvg="http://schemas.microsoft.com/office/drawing/2016/SVG/main" r:embed="rId5"/>
              </a:ext>
            </a:extLst>
          </a:blip>
          <a:stretch/>
        </p:blipFill>
        <p:spPr>
          <a:xfrm>
            <a:off x="26936700" y="514350"/>
            <a:ext cx="3286125" cy="1721168"/>
          </a:xfrm>
          <a:prstGeom prst="rect">
            <a:avLst/>
          </a:prstGeom>
        </p:spPr>
      </p:pic>
      <p:sp>
        <p:nvSpPr>
          <p:cNvPr id="5" name="editable-text-2">
            <a:extLst>
              <a:ext uri="{FF2B5EF4-FFF2-40B4-BE49-F238E27FC236}">
                <a16:creationId xmlns:a16="http://schemas.microsoft.com/office/drawing/2014/main" id="{AEADCBDB-2AEF-4D71-9ABF-396088282883}"/>
              </a:ext>
            </a:extLst>
          </p:cNvPr>
          <p:cNvSpPr>
            <a:spLocks noGrp="1"/>
          </p:cNvSpPr>
          <p:nvPr/>
        </p:nvSpPr>
        <p:spPr>
          <a:xfrm>
            <a:off x="26831925" y="2476500"/>
            <a:ext cx="3495675" cy="409575"/>
          </a:xfrm>
          <a:prstGeom prst="rect">
            <a:avLst/>
          </a:prstGeom>
          <a:noFill/>
          <a:ln w="0">
            <a:noFill/>
          </a:ln>
        </p:spPr>
        <p:txBody>
          <a:bodyPr wrap="square" lIns="0" tIns="0" rIns="0" bIns="0" anchor="t">
            <a:noAutofit/>
          </a:bodyPr>
          <a:lstStyle/>
          <a:p>
            <a:pPr algn="ctr">
              <a:defRPr sz="2250" b="1">
                <a:solidFill>
                  <a:srgbClr val="0D3075"/>
                </a:solidFill>
                <a:latin typeface="Nimbus Sans"/>
                <a:ea typeface="Nimbus Sans"/>
                <a:cs typeface="Nimbus Sans"/>
              </a:defRPr>
            </a:pPr>
            <a:r>
              <a:rPr sz="2250" b="1">
                <a:solidFill>
                  <a:srgbClr val="0D3075"/>
                </a:solidFill>
                <a:latin typeface="Nimbus Sans"/>
                <a:ea typeface="Nimbus Sans"/>
                <a:cs typeface="Nimbus Sans"/>
              </a:rPr>
              <a:t>COLM 2026 Workshop</a:t>
            </a:r>
          </a:p>
        </p:txBody>
      </p:sp>
      <p:sp>
        <p:nvSpPr>
          <p:cNvPr id="6" name="editable-text-3">
            <a:extLst>
              <a:ext uri="{FF2B5EF4-FFF2-40B4-BE49-F238E27FC236}">
                <a16:creationId xmlns:a16="http://schemas.microsoft.com/office/drawing/2014/main" id="{E5B11014-8D42-4D7F-A0D6-95CC9F0A29F6}"/>
              </a:ext>
            </a:extLst>
          </p:cNvPr>
          <p:cNvSpPr>
            <a:spLocks noGrp="1"/>
          </p:cNvSpPr>
          <p:nvPr/>
        </p:nvSpPr>
        <p:spPr>
          <a:xfrm>
            <a:off x="26531887" y="2847975"/>
            <a:ext cx="4095750" cy="314325"/>
          </a:xfrm>
          <a:prstGeom prst="rect">
            <a:avLst/>
          </a:prstGeom>
          <a:noFill/>
          <a:ln w="0">
            <a:noFill/>
          </a:ln>
        </p:spPr>
        <p:txBody>
          <a:bodyPr wrap="square" lIns="0" tIns="0" rIns="0" bIns="0" anchor="t">
            <a:noAutofit/>
          </a:bodyPr>
          <a:lstStyle/>
          <a:p>
            <a:pPr algn="ctr">
              <a:defRPr sz="1800" b="0">
                <a:solidFill>
                  <a:srgbClr val="465463"/>
                </a:solidFill>
                <a:latin typeface="Nimbus Sans"/>
                <a:ea typeface="Nimbus Sans"/>
                <a:cs typeface="Nimbus Sans"/>
              </a:defRPr>
            </a:pPr>
            <a:r>
              <a:rPr lang="en-US" dirty="0">
                <a:solidFill>
                  <a:srgbClr val="465463"/>
                </a:solidFill>
                <a:latin typeface="Nimbus Sans"/>
                <a:ea typeface="Nimbus Sans"/>
                <a:cs typeface="Nimbus Sans"/>
              </a:rPr>
              <a:t>s</a:t>
            </a:r>
            <a:r>
              <a:rPr lang="en-US" sz="1800" b="0" dirty="0">
                <a:solidFill>
                  <a:srgbClr val="465463"/>
                </a:solidFill>
                <a:latin typeface="Nimbus Sans"/>
                <a:ea typeface="Nimbus Sans"/>
                <a:cs typeface="Nimbus Sans"/>
              </a:rPr>
              <a:t>arvesh@umbc.edu</a:t>
            </a:r>
            <a:br>
              <a:rPr lang="en-US" sz="1800" b="0" dirty="0">
                <a:solidFill>
                  <a:srgbClr val="465463"/>
                </a:solidFill>
                <a:latin typeface="Nimbus Sans"/>
                <a:ea typeface="Nimbus Sans"/>
                <a:cs typeface="Nimbus Sans"/>
              </a:rPr>
            </a:br>
            <a:r>
              <a:rPr sz="1800" b="0" dirty="0">
                <a:solidFill>
                  <a:srgbClr val="465463"/>
                </a:solidFill>
                <a:latin typeface="Nimbus Sans"/>
                <a:ea typeface="Nimbus Sans"/>
                <a:cs typeface="Nimbus Sans"/>
              </a:rPr>
              <a:t>ravitejab1978@gmail.com</a:t>
            </a:r>
          </a:p>
        </p:txBody>
      </p:sp>
      <p:sp>
        <p:nvSpPr>
          <p:cNvPr id="7" name="editable-text-4">
            <a:extLst>
              <a:ext uri="{FF2B5EF4-FFF2-40B4-BE49-F238E27FC236}">
                <a16:creationId xmlns:a16="http://schemas.microsoft.com/office/drawing/2014/main" id="{7442B4F0-815A-4FEE-842C-29AE1D6206CB}"/>
              </a:ext>
            </a:extLst>
          </p:cNvPr>
          <p:cNvSpPr>
            <a:spLocks noGrp="1"/>
          </p:cNvSpPr>
          <p:nvPr/>
        </p:nvSpPr>
        <p:spPr>
          <a:xfrm>
            <a:off x="5238750" y="428625"/>
            <a:ext cx="21031200" cy="1228725"/>
          </a:xfrm>
          <a:prstGeom prst="rect">
            <a:avLst/>
          </a:prstGeom>
          <a:noFill/>
          <a:ln w="0">
            <a:noFill/>
          </a:ln>
        </p:spPr>
        <p:txBody>
          <a:bodyPr wrap="square" lIns="0" tIns="0" rIns="0" bIns="0" anchor="t">
            <a:noAutofit/>
          </a:bodyPr>
          <a:lstStyle/>
          <a:p>
            <a:pPr algn="ctr">
              <a:defRPr sz="4050" b="1">
                <a:solidFill>
                  <a:srgbClr val="0D3075"/>
                </a:solidFill>
                <a:latin typeface="Nimbus Sans"/>
                <a:ea typeface="Nimbus Sans"/>
                <a:cs typeface="Nimbus Sans"/>
              </a:defRPr>
            </a:pPr>
            <a:r>
              <a:rPr sz="4050" b="1">
                <a:solidFill>
                  <a:srgbClr val="0D3075"/>
                </a:solidFill>
                <a:latin typeface="Nimbus Sans"/>
                <a:ea typeface="Nimbus Sans"/>
                <a:cs typeface="Nimbus Sans"/>
              </a:rPr>
              <a:t>PlanForge: Synthesizing Planners from Natural Language</a:t>
            </a:r>
          </a:p>
          <a:p>
            <a:pPr algn="ctr">
              <a:defRPr sz="4050" b="1">
                <a:solidFill>
                  <a:srgbClr val="0D3075"/>
                </a:solidFill>
                <a:latin typeface="Nimbus Sans"/>
                <a:ea typeface="Nimbus Sans"/>
                <a:cs typeface="Nimbus Sans"/>
              </a:defRPr>
            </a:pPr>
            <a:r>
              <a:rPr sz="4050" b="1">
                <a:solidFill>
                  <a:srgbClr val="0D3075"/>
                </a:solidFill>
                <a:latin typeface="Nimbus Sans"/>
                <a:ea typeface="Nimbus Sans"/>
                <a:cs typeface="Nimbus Sans"/>
              </a:rPr>
              <a:t>with an LLM-Driven Architect–Builder–Runner Pipeline</a:t>
            </a:r>
          </a:p>
        </p:txBody>
      </p:sp>
      <p:sp>
        <p:nvSpPr>
          <p:cNvPr id="8" name="editable-text-5">
            <a:extLst>
              <a:ext uri="{FF2B5EF4-FFF2-40B4-BE49-F238E27FC236}">
                <a16:creationId xmlns:a16="http://schemas.microsoft.com/office/drawing/2014/main" id="{75A66B93-B97F-4825-BF1C-CFF295CF2AC7}"/>
              </a:ext>
            </a:extLst>
          </p:cNvPr>
          <p:cNvSpPr>
            <a:spLocks noGrp="1"/>
          </p:cNvSpPr>
          <p:nvPr/>
        </p:nvSpPr>
        <p:spPr>
          <a:xfrm>
            <a:off x="5238750" y="1838325"/>
            <a:ext cx="21031200" cy="838200"/>
          </a:xfrm>
          <a:prstGeom prst="rect">
            <a:avLst/>
          </a:prstGeom>
          <a:noFill/>
          <a:ln w="0">
            <a:noFill/>
          </a:ln>
        </p:spPr>
        <p:txBody>
          <a:bodyPr wrap="square" lIns="0" tIns="0" rIns="0" bIns="0" anchor="t">
            <a:noAutofit/>
          </a:bodyPr>
          <a:lstStyle/>
          <a:p>
            <a:pPr algn="ctr">
              <a:defRPr sz="2550" b="0">
                <a:solidFill>
                  <a:srgbClr val="172637"/>
                </a:solidFill>
                <a:latin typeface="Nimbus Sans"/>
                <a:ea typeface="Nimbus Sans"/>
                <a:cs typeface="Nimbus Sans"/>
              </a:defRPr>
            </a:pPr>
            <a:r>
              <a:rPr sz="2550" b="0">
                <a:solidFill>
                  <a:srgbClr val="172637"/>
                </a:solidFill>
                <a:latin typeface="Nimbus Sans"/>
                <a:ea typeface="Nimbus Sans"/>
                <a:cs typeface="Nimbus Sans"/>
              </a:rPr>
              <a:t>Sarvesh Baskar¹,* , Raviteja Bommireddy¹,* , Saksham Kumar Sharma¹, Harsha Kokel²,</a:t>
            </a:r>
          </a:p>
          <a:p>
            <a:pPr algn="ctr">
              <a:defRPr sz="2550" b="0">
                <a:solidFill>
                  <a:srgbClr val="172637"/>
                </a:solidFill>
                <a:latin typeface="Nimbus Sans"/>
                <a:ea typeface="Nimbus Sans"/>
                <a:cs typeface="Nimbus Sans"/>
              </a:defRPr>
            </a:pPr>
            <a:r>
              <a:rPr sz="2550" b="0">
                <a:solidFill>
                  <a:srgbClr val="172637"/>
                </a:solidFill>
                <a:latin typeface="Nimbus Sans"/>
                <a:ea typeface="Nimbus Sans"/>
                <a:cs typeface="Nimbus Sans"/>
              </a:rPr>
              <a:t>Manas Gaur¹, Michael Katz², Shirin Sohrabi², Kavitha Srinivas²</a:t>
            </a:r>
          </a:p>
        </p:txBody>
      </p:sp>
      <p:sp>
        <p:nvSpPr>
          <p:cNvPr id="9" name="editable-text-6">
            <a:extLst>
              <a:ext uri="{FF2B5EF4-FFF2-40B4-BE49-F238E27FC236}">
                <a16:creationId xmlns:a16="http://schemas.microsoft.com/office/drawing/2014/main" id="{E250B2BB-B972-4580-A47A-BBE0BAD6FFA9}"/>
              </a:ext>
            </a:extLst>
          </p:cNvPr>
          <p:cNvSpPr>
            <a:spLocks noGrp="1"/>
          </p:cNvSpPr>
          <p:nvPr/>
        </p:nvSpPr>
        <p:spPr>
          <a:xfrm>
            <a:off x="5238750" y="2847975"/>
            <a:ext cx="21031200" cy="438150"/>
          </a:xfrm>
          <a:prstGeom prst="rect">
            <a:avLst/>
          </a:prstGeom>
          <a:noFill/>
          <a:ln w="0">
            <a:noFill/>
          </a:ln>
        </p:spPr>
        <p:txBody>
          <a:bodyPr wrap="square" lIns="0" tIns="0" rIns="0" bIns="0" anchor="t">
            <a:noAutofit/>
          </a:bodyPr>
          <a:lstStyle/>
          <a:p>
            <a:pPr algn="ctr">
              <a:defRPr sz="2250" b="0">
                <a:solidFill>
                  <a:srgbClr val="465463"/>
                </a:solidFill>
                <a:latin typeface="Nimbus Sans"/>
                <a:ea typeface="Nimbus Sans"/>
                <a:cs typeface="Nimbus Sans"/>
              </a:defRPr>
            </a:pPr>
            <a:r>
              <a:rPr sz="2250" b="0" dirty="0">
                <a:solidFill>
                  <a:srgbClr val="465463"/>
                </a:solidFill>
                <a:latin typeface="Nimbus Sans"/>
                <a:ea typeface="Nimbus Sans"/>
                <a:cs typeface="Nimbus Sans"/>
              </a:rPr>
              <a:t>¹ University of Maryland, Baltimore County, USA     ² IBM</a:t>
            </a:r>
          </a:p>
        </p:txBody>
      </p:sp>
      <p:sp>
        <p:nvSpPr>
          <p:cNvPr id="10" name="background-7">
            <a:extLst>
              <a:ext uri="{FF2B5EF4-FFF2-40B4-BE49-F238E27FC236}">
                <a16:creationId xmlns:a16="http://schemas.microsoft.com/office/drawing/2014/main" id="{734BFFEA-54D9-41F0-8F82-77ADE976B592}"/>
              </a:ext>
            </a:extLst>
          </p:cNvPr>
          <p:cNvSpPr>
            <a:spLocks noGrp="1"/>
          </p:cNvSpPr>
          <p:nvPr/>
        </p:nvSpPr>
        <p:spPr>
          <a:xfrm>
            <a:off x="762000" y="3476625"/>
            <a:ext cx="29565600" cy="38100"/>
          </a:xfrm>
          <a:prstGeom prst="rect">
            <a:avLst/>
          </a:prstGeom>
          <a:solidFill>
            <a:srgbClr val="245FAB"/>
          </a:solidFill>
          <a:ln w="0">
            <a:noFill/>
          </a:ln>
        </p:spPr>
      </p:sp>
      <p:sp>
        <p:nvSpPr>
          <p:cNvPr id="11" name="editable-text-8">
            <a:extLst>
              <a:ext uri="{FF2B5EF4-FFF2-40B4-BE49-F238E27FC236}">
                <a16:creationId xmlns:a16="http://schemas.microsoft.com/office/drawing/2014/main" id="{86984485-E966-48B8-A5FE-1801AD07E555}"/>
              </a:ext>
            </a:extLst>
          </p:cNvPr>
          <p:cNvSpPr>
            <a:spLocks noGrp="1"/>
          </p:cNvSpPr>
          <p:nvPr/>
        </p:nvSpPr>
        <p:spPr>
          <a:xfrm>
            <a:off x="762000" y="3676650"/>
            <a:ext cx="29565600" cy="523875"/>
          </a:xfrm>
          <a:prstGeom prst="rect">
            <a:avLst/>
          </a:prstGeom>
          <a:noFill/>
          <a:ln w="0">
            <a:noFill/>
          </a:ln>
        </p:spPr>
        <p:txBody>
          <a:bodyPr wrap="square" lIns="0" tIns="0" rIns="0" bIns="0" anchor="t">
            <a:noAutofit/>
          </a:bodyPr>
          <a:lstStyle/>
          <a:p>
            <a:pPr algn="ctr">
              <a:defRPr sz="3150" b="1">
                <a:solidFill>
                  <a:srgbClr val="0D3075"/>
                </a:solidFill>
                <a:latin typeface="Nimbus Sans"/>
                <a:ea typeface="Nimbus Sans"/>
                <a:cs typeface="Nimbus Sans"/>
              </a:defRPr>
            </a:pPr>
            <a:r>
              <a:rPr lang="en-US" sz="3150" b="1" dirty="0">
                <a:solidFill>
                  <a:srgbClr val="0D3075"/>
                </a:solidFill>
                <a:latin typeface="Nimbus Sans"/>
                <a:ea typeface="Nimbus Sans"/>
                <a:cs typeface="Nimbus Sans"/>
              </a:rPr>
              <a:t>Compiling Reusable planners at  ZERO test-time cost from natural language specifications is a promising alternative to instance by instance generation </a:t>
            </a:r>
            <a:r>
              <a:rPr sz="3150" b="1" dirty="0">
                <a:solidFill>
                  <a:srgbClr val="0D3075"/>
                </a:solidFill>
                <a:latin typeface="Nimbus Sans"/>
                <a:ea typeface="Nimbus Sans"/>
                <a:cs typeface="Nimbus Sans"/>
              </a:rPr>
              <a:t>.</a:t>
            </a:r>
          </a:p>
        </p:txBody>
      </p:sp>
      <p:sp>
        <p:nvSpPr>
          <p:cNvPr id="12" name="background-9">
            <a:extLst>
              <a:ext uri="{FF2B5EF4-FFF2-40B4-BE49-F238E27FC236}">
                <a16:creationId xmlns:a16="http://schemas.microsoft.com/office/drawing/2014/main" id="{3B705FBF-31F5-4A55-BD6B-CE31EBAE8286}"/>
              </a:ext>
            </a:extLst>
          </p:cNvPr>
          <p:cNvSpPr>
            <a:spLocks noGrp="1"/>
          </p:cNvSpPr>
          <p:nvPr/>
        </p:nvSpPr>
        <p:spPr>
          <a:xfrm>
            <a:off x="762000" y="4286250"/>
            <a:ext cx="11334750" cy="628650"/>
          </a:xfrm>
          <a:prstGeom prst="rect">
            <a:avLst/>
          </a:prstGeom>
          <a:solidFill>
            <a:srgbClr val="DFECFA"/>
          </a:solidFill>
          <a:ln w="0">
            <a:noFill/>
          </a:ln>
        </p:spPr>
      </p:sp>
      <p:sp>
        <p:nvSpPr>
          <p:cNvPr id="13" name="editable-text-10">
            <a:extLst>
              <a:ext uri="{FF2B5EF4-FFF2-40B4-BE49-F238E27FC236}">
                <a16:creationId xmlns:a16="http://schemas.microsoft.com/office/drawing/2014/main" id="{1CAD11CD-DFD2-43D1-8086-950801AFD439}"/>
              </a:ext>
            </a:extLst>
          </p:cNvPr>
          <p:cNvSpPr>
            <a:spLocks noGrp="1"/>
          </p:cNvSpPr>
          <p:nvPr/>
        </p:nvSpPr>
        <p:spPr>
          <a:xfrm>
            <a:off x="933450" y="4371975"/>
            <a:ext cx="10991850" cy="495300"/>
          </a:xfrm>
          <a:prstGeom prst="rect">
            <a:avLst/>
          </a:prstGeom>
          <a:noFill/>
          <a:ln w="0">
            <a:noFill/>
          </a:ln>
        </p:spPr>
        <p:txBody>
          <a:bodyPr wrap="square" lIns="0" tIns="0" rIns="0" bIns="0" anchor="t">
            <a:noAutofit/>
          </a:bodyPr>
          <a:lstStyle/>
          <a:p>
            <a:pPr algn="l">
              <a:defRPr sz="3150" b="1">
                <a:solidFill>
                  <a:srgbClr val="0D3075"/>
                </a:solidFill>
                <a:latin typeface="Nimbus Sans"/>
                <a:ea typeface="Nimbus Sans"/>
                <a:cs typeface="Nimbus Sans"/>
              </a:defRPr>
            </a:pPr>
            <a:r>
              <a:rPr sz="3150" b="1">
                <a:solidFill>
                  <a:srgbClr val="0D3075"/>
                </a:solidFill>
                <a:latin typeface="Nimbus Sans"/>
                <a:ea typeface="Nimbus Sans"/>
                <a:cs typeface="Nimbus Sans"/>
              </a:rPr>
              <a:t>01  Motivation</a:t>
            </a:r>
          </a:p>
        </p:txBody>
      </p:sp>
      <p:sp>
        <p:nvSpPr>
          <p:cNvPr id="14" name="editable-text-11">
            <a:extLst>
              <a:ext uri="{FF2B5EF4-FFF2-40B4-BE49-F238E27FC236}">
                <a16:creationId xmlns:a16="http://schemas.microsoft.com/office/drawing/2014/main" id="{45F80C69-AD0B-46FC-B45B-D2BD0F75BE7A}"/>
              </a:ext>
            </a:extLst>
          </p:cNvPr>
          <p:cNvSpPr>
            <a:spLocks noGrp="1"/>
          </p:cNvSpPr>
          <p:nvPr/>
        </p:nvSpPr>
        <p:spPr>
          <a:xfrm>
            <a:off x="838200" y="5095875"/>
            <a:ext cx="11182350" cy="1381125"/>
          </a:xfrm>
          <a:prstGeom prst="rect">
            <a:avLst/>
          </a:prstGeom>
          <a:noFill/>
          <a:ln w="0">
            <a:noFill/>
          </a:ln>
        </p:spPr>
        <p:txBody>
          <a:bodyPr wrap="square" lIns="0" tIns="0" rIns="0" bIns="0" anchor="t">
            <a:noAutofit/>
          </a:bodyPr>
          <a:lstStyle/>
          <a:p>
            <a:pPr algn="l">
              <a:defRPr sz="2475" b="0">
                <a:solidFill>
                  <a:srgbClr val="172637"/>
                </a:solidFill>
                <a:latin typeface="Nimbus Sans"/>
                <a:ea typeface="Nimbus Sans"/>
                <a:cs typeface="Nimbus Sans"/>
              </a:defRPr>
            </a:pPr>
            <a:r>
              <a:rPr sz="2475" b="0">
                <a:solidFill>
                  <a:srgbClr val="172637"/>
                </a:solidFill>
                <a:latin typeface="Nimbus Sans"/>
                <a:ea typeface="Nimbus Sans"/>
                <a:cs typeface="Nimbus Sans"/>
              </a:rPr>
              <a:t>Large language models can generate plausible step-by-step plans, but such plans are not necessarily executable or correct. Reliable planning requires translating a natural-language task into a computational procedure that tracks state, enforces constraints, selects valid actions, and searches for a solution.</a:t>
            </a:r>
          </a:p>
        </p:txBody>
      </p:sp>
      <p:graphicFrame>
        <p:nvGraphicFramePr>
          <p:cNvPr id="62" name="Table 61"/>
          <p:cNvGraphicFramePr/>
          <p:nvPr/>
        </p:nvGraphicFramePr>
        <p:xfrm>
          <a:off x="762000" y="6667500"/>
          <a:ext cx="11334750" cy="2628900"/>
        </p:xfrm>
        <a:graphic>
          <a:graphicData uri="http://schemas.openxmlformats.org/drawingml/2006/table">
            <a:tbl>
              <a:tblPr/>
              <a:tblGrid>
                <a:gridCol w="6238875">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495300">
                <a:tc>
                  <a:txBody>
                    <a:bodyPr/>
                    <a:lstStyle/>
                    <a:p>
                      <a:pPr algn="l"/>
                      <a:r>
                        <a:rPr sz="2175" b="1">
                          <a:solidFill>
                            <a:srgbClr val="FFFFFF"/>
                          </a:solidFill>
                          <a:latin typeface="Nimbus Sans"/>
                          <a:ea typeface="Nimbus Sans"/>
                          <a:cs typeface="Nimbus Sans"/>
                        </a:rPr>
                        <a:t>Feature</a:t>
                      </a:r>
                    </a:p>
                  </a:txBody>
                  <a:tcPr anchor="ctr">
                    <a:solidFill>
                      <a:srgbClr val="0D3075"/>
                    </a:solidFill>
                  </a:tcPr>
                </a:tc>
                <a:tc>
                  <a:txBody>
                    <a:bodyPr/>
                    <a:lstStyle/>
                    <a:p>
                      <a:pPr algn="ctr"/>
                      <a:r>
                        <a:rPr sz="2175" b="1">
                          <a:solidFill>
                            <a:srgbClr val="FFFFFF"/>
                          </a:solidFill>
                          <a:latin typeface="Nimbus Sans"/>
                          <a:ea typeface="Nimbus Sans"/>
                          <a:cs typeface="Nimbus Sans"/>
                        </a:rPr>
                        <a:t>AutoToS</a:t>
                      </a:r>
                    </a:p>
                  </a:txBody>
                  <a:tcPr anchor="ctr">
                    <a:solidFill>
                      <a:srgbClr val="0D3075"/>
                    </a:solidFill>
                  </a:tcPr>
                </a:tc>
                <a:tc>
                  <a:txBody>
                    <a:bodyPr/>
                    <a:lstStyle/>
                    <a:p>
                      <a:pPr algn="ctr"/>
                      <a:r>
                        <a:rPr sz="2175" b="1">
                          <a:solidFill>
                            <a:srgbClr val="FFFFFF"/>
                          </a:solidFill>
                          <a:latin typeface="Nimbus Sans"/>
                          <a:ea typeface="Nimbus Sans"/>
                          <a:cs typeface="Nimbus Sans"/>
                        </a:rPr>
                        <a:t>SCOPE</a:t>
                      </a:r>
                    </a:p>
                  </a:txBody>
                  <a:tcPr anchor="ctr">
                    <a:solidFill>
                      <a:srgbClr val="0D3075"/>
                    </a:solidFill>
                  </a:tcPr>
                </a:tc>
                <a:tc>
                  <a:txBody>
                    <a:bodyPr/>
                    <a:lstStyle/>
                    <a:p>
                      <a:pPr algn="ctr"/>
                      <a:r>
                        <a:rPr sz="2175" b="1">
                          <a:solidFill>
                            <a:srgbClr val="FFFFFF"/>
                          </a:solidFill>
                          <a:latin typeface="Nimbus Sans"/>
                          <a:ea typeface="Nimbus Sans"/>
                          <a:cs typeface="Nimbus Sans"/>
                        </a:rPr>
                        <a:t>PlanForge</a:t>
                      </a:r>
                    </a:p>
                  </a:txBody>
                  <a:tcPr anchor="ctr">
                    <a:solidFill>
                      <a:srgbClr val="0D3075"/>
                    </a:solidFill>
                  </a:tcPr>
                </a:tc>
                <a:extLst>
                  <a:ext uri="{0D108BD9-81ED-4DB2-BD59-A6C34878D82A}">
                    <a16:rowId xmlns:a16="http://schemas.microsoft.com/office/drawing/2014/main" val="10000"/>
                  </a:ext>
                </a:extLst>
              </a:tr>
              <a:tr h="533400">
                <a:tc>
                  <a:txBody>
                    <a:bodyPr/>
                    <a:lstStyle/>
                    <a:p>
                      <a:pPr algn="l"/>
                      <a:r>
                        <a:rPr sz="2250" b="0">
                          <a:solidFill>
                            <a:srgbClr val="172637"/>
                          </a:solidFill>
                          <a:latin typeface="Nimbus Sans"/>
                          <a:ea typeface="Nimbus Sans"/>
                          <a:cs typeface="Nimbus Sans"/>
                        </a:rPr>
                        <a:t>No human-curated state schema</a:t>
                      </a:r>
                    </a:p>
                  </a:txBody>
                  <a:tcPr anchor="ctr">
                    <a:solidFill>
                      <a:srgbClr val="FFFFFF"/>
                    </a:solidFill>
                  </a:tcPr>
                </a:tc>
                <a:tc>
                  <a:txBody>
                    <a:bodyPr/>
                    <a:lstStyle/>
                    <a:p>
                      <a:pPr algn="ctr"/>
                      <a:r>
                        <a:rPr sz="2250" b="0">
                          <a:solidFill>
                            <a:srgbClr val="172637"/>
                          </a:solidFill>
                          <a:latin typeface="Nimbus Sans"/>
                          <a:ea typeface="Nimbus Sans"/>
                          <a:cs typeface="Nimbus Sans"/>
                        </a:rPr>
                        <a:t>×</a:t>
                      </a:r>
                    </a:p>
                  </a:txBody>
                  <a:tcPr anchor="ctr">
                    <a:solidFill>
                      <a:srgbClr val="FFFFFF"/>
                    </a:solidFill>
                  </a:tcPr>
                </a:tc>
                <a:tc>
                  <a:txBody>
                    <a:bodyPr/>
                    <a:lstStyle/>
                    <a:p>
                      <a:pPr algn="ctr"/>
                      <a:r>
                        <a:rPr sz="2250" b="0">
                          <a:solidFill>
                            <a:srgbClr val="172637"/>
                          </a:solidFill>
                          <a:latin typeface="Nimbus Sans"/>
                          <a:ea typeface="Nimbus Sans"/>
                          <a:cs typeface="Nimbus Sans"/>
                        </a:rPr>
                        <a:t>×</a:t>
                      </a:r>
                    </a:p>
                  </a:txBody>
                  <a:tcPr anchor="ctr">
                    <a:solidFill>
                      <a:srgbClr val="FFFFFF"/>
                    </a:solidFill>
                  </a:tcPr>
                </a:tc>
                <a:tc>
                  <a:txBody>
                    <a:bodyPr/>
                    <a:lstStyle/>
                    <a:p>
                      <a:pPr algn="ctr"/>
                      <a:r>
                        <a:rPr sz="2250" b="0">
                          <a:solidFill>
                            <a:srgbClr val="172637"/>
                          </a:solidFill>
                          <a:latin typeface="Nimbus Sans"/>
                          <a:ea typeface="Nimbus Sans"/>
                          <a:cs typeface="Nimbus Sans"/>
                        </a:rPr>
                        <a:t>✓</a:t>
                      </a:r>
                    </a:p>
                  </a:txBody>
                  <a:tcPr anchor="ctr">
                    <a:solidFill>
                      <a:srgbClr val="FFFFFF"/>
                    </a:solidFill>
                  </a:tcPr>
                </a:tc>
                <a:extLst>
                  <a:ext uri="{0D108BD9-81ED-4DB2-BD59-A6C34878D82A}">
                    <a16:rowId xmlns:a16="http://schemas.microsoft.com/office/drawing/2014/main" val="10001"/>
                  </a:ext>
                </a:extLst>
              </a:tr>
              <a:tr h="533400">
                <a:tc>
                  <a:txBody>
                    <a:bodyPr/>
                    <a:lstStyle/>
                    <a:p>
                      <a:pPr algn="l"/>
                      <a:r>
                        <a:rPr sz="2250" b="0">
                          <a:solidFill>
                            <a:srgbClr val="172637"/>
                          </a:solidFill>
                          <a:latin typeface="Nimbus Sans"/>
                          <a:ea typeface="Nimbus Sans"/>
                          <a:cs typeface="Nimbus Sans"/>
                        </a:rPr>
                        <a:t>No predefined function signatures</a:t>
                      </a:r>
                    </a:p>
                  </a:txBody>
                  <a:tcPr anchor="ctr">
                    <a:solidFill>
                      <a:srgbClr val="F5F8FC"/>
                    </a:solidFill>
                  </a:tcPr>
                </a:tc>
                <a:tc>
                  <a:txBody>
                    <a:bodyPr/>
                    <a:lstStyle/>
                    <a:p>
                      <a:pPr algn="ctr"/>
                      <a:r>
                        <a:rPr sz="2250" b="0">
                          <a:solidFill>
                            <a:srgbClr val="172637"/>
                          </a:solidFill>
                          <a:latin typeface="Nimbus Sans"/>
                          <a:ea typeface="Nimbus Sans"/>
                          <a:cs typeface="Nimbus Sans"/>
                        </a:rPr>
                        <a:t>×</a:t>
                      </a:r>
                    </a:p>
                  </a:txBody>
                  <a:tcPr anchor="ctr">
                    <a:solidFill>
                      <a:srgbClr val="F5F8FC"/>
                    </a:solidFill>
                  </a:tcPr>
                </a:tc>
                <a:tc>
                  <a:txBody>
                    <a:bodyPr/>
                    <a:lstStyle/>
                    <a:p>
                      <a:pPr algn="ctr"/>
                      <a:r>
                        <a:rPr sz="2250" b="0">
                          <a:solidFill>
                            <a:srgbClr val="172637"/>
                          </a:solidFill>
                          <a:latin typeface="Nimbus Sans"/>
                          <a:ea typeface="Nimbus Sans"/>
                          <a:cs typeface="Nimbus Sans"/>
                        </a:rPr>
                        <a:t>×</a:t>
                      </a:r>
                    </a:p>
                  </a:txBody>
                  <a:tcPr anchor="ctr">
                    <a:solidFill>
                      <a:srgbClr val="F5F8FC"/>
                    </a:solidFill>
                  </a:tcPr>
                </a:tc>
                <a:tc>
                  <a:txBody>
                    <a:bodyPr/>
                    <a:lstStyle/>
                    <a:p>
                      <a:pPr algn="ctr"/>
                      <a:r>
                        <a:rPr sz="2250" b="0">
                          <a:solidFill>
                            <a:srgbClr val="172637"/>
                          </a:solidFill>
                          <a:latin typeface="Nimbus Sans"/>
                          <a:ea typeface="Nimbus Sans"/>
                          <a:cs typeface="Nimbus Sans"/>
                        </a:rPr>
                        <a:t>✓</a:t>
                      </a:r>
                    </a:p>
                  </a:txBody>
                  <a:tcPr anchor="ctr">
                    <a:solidFill>
                      <a:srgbClr val="F5F8FC"/>
                    </a:solidFill>
                  </a:tcPr>
                </a:tc>
                <a:extLst>
                  <a:ext uri="{0D108BD9-81ED-4DB2-BD59-A6C34878D82A}">
                    <a16:rowId xmlns:a16="http://schemas.microsoft.com/office/drawing/2014/main" val="10002"/>
                  </a:ext>
                </a:extLst>
              </a:tr>
              <a:tr h="533400">
                <a:tc>
                  <a:txBody>
                    <a:bodyPr/>
                    <a:lstStyle/>
                    <a:p>
                      <a:pPr algn="l"/>
                      <a:r>
                        <a:rPr sz="2250" b="0" dirty="0">
                          <a:solidFill>
                            <a:srgbClr val="172637"/>
                          </a:solidFill>
                          <a:latin typeface="Nimbus Sans"/>
                          <a:ea typeface="Nimbus Sans"/>
                          <a:cs typeface="Nimbus Sans"/>
                        </a:rPr>
                        <a:t>No fixed search/solver algorithm</a:t>
                      </a:r>
                    </a:p>
                  </a:txBody>
                  <a:tcPr anchor="ctr">
                    <a:solidFill>
                      <a:srgbClr val="FFFFFF"/>
                    </a:solidFill>
                  </a:tcPr>
                </a:tc>
                <a:tc>
                  <a:txBody>
                    <a:bodyPr/>
                    <a:lstStyle/>
                    <a:p>
                      <a:pPr algn="ctr"/>
                      <a:r>
                        <a:rPr sz="2250" b="0">
                          <a:solidFill>
                            <a:srgbClr val="172637"/>
                          </a:solidFill>
                          <a:latin typeface="Nimbus Sans"/>
                          <a:ea typeface="Nimbus Sans"/>
                          <a:cs typeface="Nimbus Sans"/>
                        </a:rPr>
                        <a:t>×</a:t>
                      </a:r>
                    </a:p>
                  </a:txBody>
                  <a:tcPr anchor="ctr">
                    <a:solidFill>
                      <a:srgbClr val="FFFFFF"/>
                    </a:solidFill>
                  </a:tcPr>
                </a:tc>
                <a:tc>
                  <a:txBody>
                    <a:bodyPr/>
                    <a:lstStyle/>
                    <a:p>
                      <a:pPr algn="ctr"/>
                      <a:r>
                        <a:rPr sz="2250" b="0">
                          <a:solidFill>
                            <a:srgbClr val="172637"/>
                          </a:solidFill>
                          <a:latin typeface="Nimbus Sans"/>
                          <a:ea typeface="Nimbus Sans"/>
                          <a:cs typeface="Nimbus Sans"/>
                        </a:rPr>
                        <a:t>×</a:t>
                      </a:r>
                    </a:p>
                  </a:txBody>
                  <a:tcPr anchor="ctr">
                    <a:solidFill>
                      <a:srgbClr val="FFFFFF"/>
                    </a:solidFill>
                  </a:tcPr>
                </a:tc>
                <a:tc>
                  <a:txBody>
                    <a:bodyPr/>
                    <a:lstStyle/>
                    <a:p>
                      <a:pPr algn="ctr"/>
                      <a:r>
                        <a:rPr sz="2250" b="0">
                          <a:solidFill>
                            <a:srgbClr val="172637"/>
                          </a:solidFill>
                          <a:latin typeface="Nimbus Sans"/>
                          <a:ea typeface="Nimbus Sans"/>
                          <a:cs typeface="Nimbus Sans"/>
                        </a:rPr>
                        <a:t>✓</a:t>
                      </a:r>
                    </a:p>
                  </a:txBody>
                  <a:tcPr anchor="ctr">
                    <a:solidFill>
                      <a:srgbClr val="FFFFFF"/>
                    </a:solidFill>
                  </a:tcPr>
                </a:tc>
                <a:extLst>
                  <a:ext uri="{0D108BD9-81ED-4DB2-BD59-A6C34878D82A}">
                    <a16:rowId xmlns:a16="http://schemas.microsoft.com/office/drawing/2014/main" val="10003"/>
                  </a:ext>
                </a:extLst>
              </a:tr>
              <a:tr h="533400">
                <a:tc>
                  <a:txBody>
                    <a:bodyPr/>
                    <a:lstStyle/>
                    <a:p>
                      <a:pPr algn="l"/>
                      <a:r>
                        <a:rPr sz="2250" b="0">
                          <a:solidFill>
                            <a:srgbClr val="172637"/>
                          </a:solidFill>
                          <a:latin typeface="Nimbus Sans"/>
                          <a:ea typeface="Nimbus Sans"/>
                          <a:cs typeface="Nimbus Sans"/>
                        </a:rPr>
                        <a:t>Domain-level reusable planner</a:t>
                      </a:r>
                    </a:p>
                  </a:txBody>
                  <a:tcPr anchor="ctr">
                    <a:solidFill>
                      <a:srgbClr val="F5F8FC"/>
                    </a:solidFill>
                  </a:tcPr>
                </a:tc>
                <a:tc>
                  <a:txBody>
                    <a:bodyPr/>
                    <a:lstStyle/>
                    <a:p>
                      <a:pPr algn="ctr"/>
                      <a:r>
                        <a:rPr sz="2250" b="0">
                          <a:solidFill>
                            <a:srgbClr val="172637"/>
                          </a:solidFill>
                          <a:latin typeface="Nimbus Sans"/>
                          <a:ea typeface="Nimbus Sans"/>
                          <a:cs typeface="Nimbus Sans"/>
                        </a:rPr>
                        <a:t>✓</a:t>
                      </a:r>
                    </a:p>
                  </a:txBody>
                  <a:tcPr anchor="ctr">
                    <a:solidFill>
                      <a:srgbClr val="F5F8FC"/>
                    </a:solidFill>
                  </a:tcPr>
                </a:tc>
                <a:tc>
                  <a:txBody>
                    <a:bodyPr/>
                    <a:lstStyle/>
                    <a:p>
                      <a:pPr algn="ctr"/>
                      <a:r>
                        <a:rPr sz="2250" b="0">
                          <a:solidFill>
                            <a:srgbClr val="172637"/>
                          </a:solidFill>
                          <a:latin typeface="Nimbus Sans"/>
                          <a:ea typeface="Nimbus Sans"/>
                          <a:cs typeface="Nimbus Sans"/>
                        </a:rPr>
                        <a:t>×</a:t>
                      </a:r>
                    </a:p>
                  </a:txBody>
                  <a:tcPr anchor="ctr">
                    <a:solidFill>
                      <a:srgbClr val="F5F8FC"/>
                    </a:solidFill>
                  </a:tcPr>
                </a:tc>
                <a:tc>
                  <a:txBody>
                    <a:bodyPr/>
                    <a:lstStyle/>
                    <a:p>
                      <a:pPr algn="ctr"/>
                      <a:r>
                        <a:rPr sz="2250" b="0" dirty="0">
                          <a:solidFill>
                            <a:srgbClr val="172637"/>
                          </a:solidFill>
                          <a:latin typeface="Nimbus Sans"/>
                          <a:ea typeface="Nimbus Sans"/>
                          <a:cs typeface="Nimbus Sans"/>
                        </a:rPr>
                        <a:t>✓</a:t>
                      </a:r>
                    </a:p>
                  </a:txBody>
                  <a:tcPr anchor="ctr">
                    <a:solidFill>
                      <a:srgbClr val="F5F8FC"/>
                    </a:solidFill>
                  </a:tcPr>
                </a:tc>
                <a:extLst>
                  <a:ext uri="{0D108BD9-81ED-4DB2-BD59-A6C34878D82A}">
                    <a16:rowId xmlns:a16="http://schemas.microsoft.com/office/drawing/2014/main" val="10004"/>
                  </a:ext>
                </a:extLst>
              </a:tr>
            </a:tbl>
          </a:graphicData>
        </a:graphic>
      </p:graphicFrame>
      <p:sp>
        <p:nvSpPr>
          <p:cNvPr id="16" name="editable-text-12">
            <a:extLst>
              <a:ext uri="{FF2B5EF4-FFF2-40B4-BE49-F238E27FC236}">
                <a16:creationId xmlns:a16="http://schemas.microsoft.com/office/drawing/2014/main" id="{C12E1EF9-615E-45C8-AEC3-2BA55E567EE6}"/>
              </a:ext>
            </a:extLst>
          </p:cNvPr>
          <p:cNvSpPr>
            <a:spLocks noGrp="1"/>
          </p:cNvSpPr>
          <p:nvPr/>
        </p:nvSpPr>
        <p:spPr>
          <a:xfrm>
            <a:off x="838200" y="9467850"/>
            <a:ext cx="11258550" cy="714375"/>
          </a:xfrm>
          <a:prstGeom prst="rect">
            <a:avLst/>
          </a:prstGeom>
          <a:noFill/>
          <a:ln w="0">
            <a:noFill/>
          </a:ln>
        </p:spPr>
        <p:txBody>
          <a:bodyPr wrap="square" lIns="0" tIns="0" rIns="0" bIns="0" anchor="t">
            <a:noAutofit/>
          </a:bodyPr>
          <a:lstStyle/>
          <a:p>
            <a:pPr algn="l">
              <a:defRPr sz="2250" b="0">
                <a:solidFill>
                  <a:srgbClr val="465463"/>
                </a:solidFill>
                <a:latin typeface="Nimbus Sans"/>
                <a:ea typeface="Nimbus Sans"/>
                <a:cs typeface="Nimbus Sans"/>
              </a:defRPr>
            </a:pPr>
            <a:r>
              <a:rPr sz="2250" b="0" dirty="0">
                <a:solidFill>
                  <a:srgbClr val="465463"/>
                </a:solidFill>
                <a:latin typeface="Nimbus Sans"/>
                <a:ea typeface="Nimbus Sans"/>
                <a:cs typeface="Nimbus Sans"/>
              </a:rPr>
              <a:t>Table 1 (excerpt). Reuse alone does</a:t>
            </a:r>
            <a:r>
              <a:rPr lang="en-US" sz="2250" b="0" dirty="0">
                <a:solidFill>
                  <a:srgbClr val="465463"/>
                </a:solidFill>
                <a:latin typeface="Nimbus Sans"/>
                <a:ea typeface="Nimbus Sans"/>
                <a:cs typeface="Nimbus Sans"/>
              </a:rPr>
              <a:t>n’t </a:t>
            </a:r>
            <a:r>
              <a:rPr sz="2250" b="0" dirty="0">
                <a:solidFill>
                  <a:srgbClr val="465463"/>
                </a:solidFill>
                <a:latin typeface="Nimbus Sans"/>
                <a:ea typeface="Nimbus Sans"/>
                <a:cs typeface="Nimbus Sans"/>
              </a:rPr>
              <a:t>remove the need for a human-designed planner blueprint.</a:t>
            </a:r>
          </a:p>
        </p:txBody>
      </p:sp>
      <p:sp>
        <p:nvSpPr>
          <p:cNvPr id="17" name="editable-text-13">
            <a:extLst>
              <a:ext uri="{FF2B5EF4-FFF2-40B4-BE49-F238E27FC236}">
                <a16:creationId xmlns:a16="http://schemas.microsoft.com/office/drawing/2014/main" id="{C1E2364D-6BD5-4C82-AA27-0A52BA2FFFB5}"/>
              </a:ext>
            </a:extLst>
          </p:cNvPr>
          <p:cNvSpPr>
            <a:spLocks noGrp="1"/>
          </p:cNvSpPr>
          <p:nvPr/>
        </p:nvSpPr>
        <p:spPr>
          <a:xfrm>
            <a:off x="838200" y="10353675"/>
            <a:ext cx="11182350" cy="485775"/>
          </a:xfrm>
          <a:prstGeom prst="rect">
            <a:avLst/>
          </a:prstGeom>
          <a:noFill/>
          <a:ln w="0">
            <a:noFill/>
          </a:ln>
        </p:spPr>
        <p:txBody>
          <a:bodyPr wrap="square" lIns="0" tIns="0" rIns="0" bIns="0" anchor="t">
            <a:noAutofit/>
          </a:bodyPr>
          <a:lstStyle/>
          <a:p>
            <a:pPr algn="l">
              <a:defRPr sz="3000" b="1">
                <a:solidFill>
                  <a:srgbClr val="0D3075"/>
                </a:solidFill>
                <a:latin typeface="Nimbus Sans"/>
                <a:ea typeface="Nimbus Sans"/>
                <a:cs typeface="Nimbus Sans"/>
              </a:defRPr>
            </a:pPr>
            <a:r>
              <a:rPr sz="3000" b="1">
                <a:solidFill>
                  <a:srgbClr val="0D3075"/>
                </a:solidFill>
                <a:latin typeface="Nimbus Sans"/>
                <a:ea typeface="Nimbus Sans"/>
                <a:cs typeface="Nimbus Sans"/>
              </a:rPr>
              <a:t>Research Gap</a:t>
            </a:r>
          </a:p>
        </p:txBody>
      </p:sp>
      <p:sp>
        <p:nvSpPr>
          <p:cNvPr id="18" name="editable-text-14">
            <a:extLst>
              <a:ext uri="{FF2B5EF4-FFF2-40B4-BE49-F238E27FC236}">
                <a16:creationId xmlns:a16="http://schemas.microsoft.com/office/drawing/2014/main" id="{F1705F95-5553-454A-BB06-AD7C12A7BD65}"/>
              </a:ext>
            </a:extLst>
          </p:cNvPr>
          <p:cNvSpPr>
            <a:spLocks noGrp="1"/>
          </p:cNvSpPr>
          <p:nvPr/>
        </p:nvSpPr>
        <p:spPr>
          <a:xfrm>
            <a:off x="838200" y="10915650"/>
            <a:ext cx="11182350" cy="1714500"/>
          </a:xfrm>
          <a:prstGeom prst="rect">
            <a:avLst/>
          </a:prstGeom>
          <a:noFill/>
          <a:ln w="0">
            <a:noFill/>
          </a:ln>
        </p:spPr>
        <p:txBody>
          <a:bodyPr wrap="square" lIns="0" tIns="0" rIns="0" bIns="0" anchor="t">
            <a:noAutofit/>
          </a:bodyPr>
          <a:lstStyle/>
          <a:p>
            <a:pPr algn="l">
              <a:defRPr sz="2475" b="0">
                <a:solidFill>
                  <a:srgbClr val="172637"/>
                </a:solidFill>
                <a:latin typeface="Nimbus Sans"/>
                <a:ea typeface="Nimbus Sans"/>
                <a:cs typeface="Nimbus Sans"/>
              </a:defRPr>
            </a:pPr>
            <a:r>
              <a:rPr sz="2475" b="0" dirty="0">
                <a:solidFill>
                  <a:srgbClr val="172637"/>
                </a:solidFill>
                <a:latin typeface="Nimbus Sans"/>
                <a:ea typeface="Nimbus Sans"/>
                <a:cs typeface="Nimbus Sans"/>
              </a:rPr>
              <a:t>Recent programmatic methods such as SCOPE and Thought-of-Search enforce execution constraints by compiling problem instances into code, but rely on a predefined, human-designed planner blueprint, including fixed state representations, search templates or solver schemas.</a:t>
            </a:r>
          </a:p>
        </p:txBody>
      </p:sp>
      <p:sp>
        <p:nvSpPr>
          <p:cNvPr id="19" name="editable-text-15">
            <a:extLst>
              <a:ext uri="{FF2B5EF4-FFF2-40B4-BE49-F238E27FC236}">
                <a16:creationId xmlns:a16="http://schemas.microsoft.com/office/drawing/2014/main" id="{A1F51FB8-A37B-4FE5-8734-3F046DC5144B}"/>
              </a:ext>
            </a:extLst>
          </p:cNvPr>
          <p:cNvSpPr>
            <a:spLocks noGrp="1"/>
          </p:cNvSpPr>
          <p:nvPr/>
        </p:nvSpPr>
        <p:spPr>
          <a:xfrm>
            <a:off x="838200" y="12858750"/>
            <a:ext cx="11182350" cy="485775"/>
          </a:xfrm>
          <a:prstGeom prst="rect">
            <a:avLst/>
          </a:prstGeom>
          <a:noFill/>
          <a:ln w="0">
            <a:noFill/>
          </a:ln>
        </p:spPr>
        <p:txBody>
          <a:bodyPr wrap="square" lIns="0" tIns="0" rIns="0" bIns="0" anchor="t">
            <a:noAutofit/>
          </a:bodyPr>
          <a:lstStyle/>
          <a:p>
            <a:pPr algn="l">
              <a:defRPr sz="3000" b="1">
                <a:solidFill>
                  <a:srgbClr val="0D3075"/>
                </a:solidFill>
                <a:latin typeface="Nimbus Sans"/>
                <a:ea typeface="Nimbus Sans"/>
                <a:cs typeface="Nimbus Sans"/>
              </a:defRPr>
            </a:pPr>
            <a:r>
              <a:rPr sz="3000" b="1">
                <a:solidFill>
                  <a:srgbClr val="0D3075"/>
                </a:solidFill>
                <a:latin typeface="Nimbus Sans"/>
                <a:ea typeface="Nimbus Sans"/>
                <a:cs typeface="Nimbus Sans"/>
              </a:rPr>
              <a:t>Research Statement</a:t>
            </a:r>
          </a:p>
        </p:txBody>
      </p:sp>
      <p:sp>
        <p:nvSpPr>
          <p:cNvPr id="20" name="editable-text-16">
            <a:extLst>
              <a:ext uri="{FF2B5EF4-FFF2-40B4-BE49-F238E27FC236}">
                <a16:creationId xmlns:a16="http://schemas.microsoft.com/office/drawing/2014/main" id="{8A23D29E-3D91-4ED2-9121-1FB238E0B931}"/>
              </a:ext>
            </a:extLst>
          </p:cNvPr>
          <p:cNvSpPr>
            <a:spLocks noGrp="1"/>
          </p:cNvSpPr>
          <p:nvPr/>
        </p:nvSpPr>
        <p:spPr>
          <a:xfrm>
            <a:off x="838200" y="13430250"/>
            <a:ext cx="11182350" cy="1285875"/>
          </a:xfrm>
          <a:prstGeom prst="rect">
            <a:avLst/>
          </a:prstGeom>
          <a:noFill/>
          <a:ln w="0">
            <a:noFill/>
          </a:ln>
        </p:spPr>
        <p:txBody>
          <a:bodyPr wrap="square" lIns="0" tIns="0" rIns="0" bIns="0" anchor="t">
            <a:noAutofit/>
          </a:bodyPr>
          <a:lstStyle/>
          <a:p>
            <a:pPr algn="l">
              <a:defRPr sz="2475" b="0">
                <a:solidFill>
                  <a:srgbClr val="172637"/>
                </a:solidFill>
                <a:latin typeface="Nimbus Sans"/>
                <a:ea typeface="Nimbus Sans"/>
                <a:cs typeface="Nimbus Sans"/>
              </a:defRPr>
            </a:pPr>
            <a:r>
              <a:rPr sz="2475" b="0">
                <a:solidFill>
                  <a:srgbClr val="172637"/>
                </a:solidFill>
                <a:latin typeface="Nimbus Sans"/>
                <a:ea typeface="Nimbus Sans"/>
                <a:cs typeface="Nimbus Sans"/>
              </a:rPr>
              <a:t>Can an LLM induce a planner blueprint, compile it into a program, and produce valid solutions on unseen instances? PlanForge studies this at the task-family level.</a:t>
            </a:r>
          </a:p>
        </p:txBody>
      </p:sp>
      <p:sp>
        <p:nvSpPr>
          <p:cNvPr id="21" name="background-17">
            <a:extLst>
              <a:ext uri="{FF2B5EF4-FFF2-40B4-BE49-F238E27FC236}">
                <a16:creationId xmlns:a16="http://schemas.microsoft.com/office/drawing/2014/main" id="{21BDF651-DB54-4AF6-85D8-0A62CFF95145}"/>
              </a:ext>
            </a:extLst>
          </p:cNvPr>
          <p:cNvSpPr>
            <a:spLocks noGrp="1"/>
          </p:cNvSpPr>
          <p:nvPr/>
        </p:nvSpPr>
        <p:spPr>
          <a:xfrm>
            <a:off x="12954000" y="4286250"/>
            <a:ext cx="17373600" cy="628650"/>
          </a:xfrm>
          <a:prstGeom prst="rect">
            <a:avLst/>
          </a:prstGeom>
          <a:solidFill>
            <a:srgbClr val="DFECFA"/>
          </a:solidFill>
          <a:ln w="0">
            <a:noFill/>
          </a:ln>
        </p:spPr>
      </p:sp>
      <p:sp>
        <p:nvSpPr>
          <p:cNvPr id="22" name="editable-text-18">
            <a:extLst>
              <a:ext uri="{FF2B5EF4-FFF2-40B4-BE49-F238E27FC236}">
                <a16:creationId xmlns:a16="http://schemas.microsoft.com/office/drawing/2014/main" id="{4E823AD6-9C5F-48FE-A4BB-59FB1B69753A}"/>
              </a:ext>
            </a:extLst>
          </p:cNvPr>
          <p:cNvSpPr>
            <a:spLocks noGrp="1"/>
          </p:cNvSpPr>
          <p:nvPr/>
        </p:nvSpPr>
        <p:spPr>
          <a:xfrm>
            <a:off x="13125450" y="4371975"/>
            <a:ext cx="17030700" cy="495300"/>
          </a:xfrm>
          <a:prstGeom prst="rect">
            <a:avLst/>
          </a:prstGeom>
          <a:noFill/>
          <a:ln w="0">
            <a:noFill/>
          </a:ln>
        </p:spPr>
        <p:txBody>
          <a:bodyPr wrap="square" lIns="0" tIns="0" rIns="0" bIns="0" anchor="t">
            <a:noAutofit/>
          </a:bodyPr>
          <a:lstStyle/>
          <a:p>
            <a:pPr algn="l">
              <a:defRPr sz="3150" b="1">
                <a:solidFill>
                  <a:srgbClr val="0D3075"/>
                </a:solidFill>
                <a:latin typeface="Nimbus Sans"/>
                <a:ea typeface="Nimbus Sans"/>
                <a:cs typeface="Nimbus Sans"/>
              </a:defRPr>
            </a:pPr>
            <a:r>
              <a:rPr sz="3150" b="1">
                <a:solidFill>
                  <a:srgbClr val="0D3075"/>
                </a:solidFill>
                <a:latin typeface="Nimbus Sans"/>
                <a:ea typeface="Nimbus Sans"/>
                <a:cs typeface="Nimbus Sans"/>
              </a:rPr>
              <a:t>02  Methodology</a:t>
            </a:r>
          </a:p>
        </p:txBody>
      </p:sp>
      <p:sp>
        <p:nvSpPr>
          <p:cNvPr id="23" name="editable-text-19">
            <a:extLst>
              <a:ext uri="{FF2B5EF4-FFF2-40B4-BE49-F238E27FC236}">
                <a16:creationId xmlns:a16="http://schemas.microsoft.com/office/drawing/2014/main" id="{3B40D7C8-A7C8-4B6A-BB29-7F505835ABB9}"/>
              </a:ext>
            </a:extLst>
          </p:cNvPr>
          <p:cNvSpPr>
            <a:spLocks noGrp="1"/>
          </p:cNvSpPr>
          <p:nvPr/>
        </p:nvSpPr>
        <p:spPr>
          <a:xfrm>
            <a:off x="13106400" y="5095875"/>
            <a:ext cx="17068800" cy="733425"/>
          </a:xfrm>
          <a:prstGeom prst="rect">
            <a:avLst/>
          </a:prstGeom>
          <a:noFill/>
          <a:ln w="0">
            <a:noFill/>
          </a:ln>
        </p:spPr>
        <p:txBody>
          <a:bodyPr wrap="square" lIns="0" tIns="0" rIns="0" bIns="0" anchor="t">
            <a:noAutofit/>
          </a:bodyPr>
          <a:lstStyle/>
          <a:p>
            <a:pPr algn="l">
              <a:defRPr sz="2475" b="0">
                <a:solidFill>
                  <a:srgbClr val="172637"/>
                </a:solidFill>
                <a:latin typeface="Nimbus Sans"/>
                <a:ea typeface="Nimbus Sans"/>
                <a:cs typeface="Nimbus Sans"/>
              </a:defRPr>
            </a:pPr>
            <a:r>
              <a:rPr sz="2475" b="0">
                <a:solidFill>
                  <a:srgbClr val="172637"/>
                </a:solidFill>
                <a:latin typeface="Nimbus Sans"/>
                <a:ea typeface="Nimbus Sans"/>
                <a:cs typeface="Nimbus Sans"/>
              </a:rPr>
              <a:t>Given a domain description and a few validation examples, the Architect designs the state representation, function signatures, solving strategy and integration logic.</a:t>
            </a:r>
          </a:p>
        </p:txBody>
      </p:sp>
      <p:pic>
        <p:nvPicPr>
          <p:cNvPr id="71" name="Picture 70"/>
          <p:cNvPicPr>
            <a:picLocks noChangeAspect="1"/>
          </p:cNvPicPr>
          <p:nvPr/>
        </p:nvPicPr>
        <p:blipFill>
          <a:blip r:embed="rId6"/>
          <a:stretch/>
        </p:blipFill>
        <p:spPr>
          <a:xfrm>
            <a:off x="14306550" y="5972175"/>
            <a:ext cx="14668500" cy="7498984"/>
          </a:xfrm>
          <a:prstGeom prst="rect">
            <a:avLst/>
          </a:prstGeom>
        </p:spPr>
      </p:pic>
      <p:sp>
        <p:nvSpPr>
          <p:cNvPr id="25" name="editable-text-20">
            <a:extLst>
              <a:ext uri="{FF2B5EF4-FFF2-40B4-BE49-F238E27FC236}">
                <a16:creationId xmlns:a16="http://schemas.microsoft.com/office/drawing/2014/main" id="{389DDAEB-2DEF-40DD-933C-389236DB4D99}"/>
              </a:ext>
            </a:extLst>
          </p:cNvPr>
          <p:cNvSpPr>
            <a:spLocks noGrp="1"/>
          </p:cNvSpPr>
          <p:nvPr/>
        </p:nvSpPr>
        <p:spPr>
          <a:xfrm>
            <a:off x="13106400" y="13630275"/>
            <a:ext cx="17068800" cy="1190625"/>
          </a:xfrm>
          <a:prstGeom prst="rect">
            <a:avLst/>
          </a:prstGeom>
          <a:noFill/>
          <a:ln w="0">
            <a:noFill/>
          </a:ln>
        </p:spPr>
        <p:txBody>
          <a:bodyPr wrap="square" lIns="0" tIns="0" rIns="0" bIns="0" anchor="t">
            <a:noAutofit/>
          </a:bodyPr>
          <a:lstStyle/>
          <a:p>
            <a:pPr algn="l">
              <a:defRPr sz="2400" b="0">
                <a:solidFill>
                  <a:srgbClr val="172637"/>
                </a:solidFill>
                <a:latin typeface="Nimbus Sans"/>
                <a:ea typeface="Nimbus Sans"/>
                <a:cs typeface="Nimbus Sans"/>
              </a:defRPr>
            </a:pPr>
            <a:r>
              <a:rPr sz="2400" b="0" dirty="0">
                <a:solidFill>
                  <a:srgbClr val="172637"/>
                </a:solidFill>
                <a:latin typeface="Nimbus Sans"/>
                <a:ea typeface="Nimbus Sans"/>
                <a:cs typeface="Nimbus Sans"/>
              </a:rPr>
              <a:t>The Builder implements and repairs the program using validation feedback. Implementation errors return to the Builder; deficiencies in representation or strategy return to the Architect. After synthesis, the program is frozen. The deterministic Runner executes held-out instances without LLM calls</a:t>
            </a:r>
            <a:r>
              <a:rPr lang="en-US" sz="2400" b="0" dirty="0">
                <a:solidFill>
                  <a:srgbClr val="172637"/>
                </a:solidFill>
                <a:latin typeface="Nimbus Sans"/>
                <a:ea typeface="Nimbus Sans"/>
                <a:cs typeface="Nimbus Sans"/>
              </a:rPr>
              <a:t> for plan generation at zero cost</a:t>
            </a:r>
            <a:r>
              <a:rPr sz="2400" b="0" dirty="0">
                <a:solidFill>
                  <a:srgbClr val="172637"/>
                </a:solidFill>
                <a:latin typeface="Nimbus Sans"/>
                <a:ea typeface="Nimbus Sans"/>
                <a:cs typeface="Nimbus Sans"/>
              </a:rPr>
              <a:t>.</a:t>
            </a:r>
          </a:p>
        </p:txBody>
      </p:sp>
      <p:sp>
        <p:nvSpPr>
          <p:cNvPr id="26" name="background-21">
            <a:extLst>
              <a:ext uri="{FF2B5EF4-FFF2-40B4-BE49-F238E27FC236}">
                <a16:creationId xmlns:a16="http://schemas.microsoft.com/office/drawing/2014/main" id="{D0B34BCB-5BD9-4470-9B2E-D08550DFEE1B}"/>
              </a:ext>
            </a:extLst>
          </p:cNvPr>
          <p:cNvSpPr>
            <a:spLocks noGrp="1"/>
          </p:cNvSpPr>
          <p:nvPr/>
        </p:nvSpPr>
        <p:spPr>
          <a:xfrm>
            <a:off x="762000" y="15144750"/>
            <a:ext cx="18097500" cy="628650"/>
          </a:xfrm>
          <a:prstGeom prst="rect">
            <a:avLst/>
          </a:prstGeom>
          <a:solidFill>
            <a:srgbClr val="DFECFA"/>
          </a:solidFill>
          <a:ln w="0">
            <a:noFill/>
          </a:ln>
        </p:spPr>
      </p:sp>
      <p:sp>
        <p:nvSpPr>
          <p:cNvPr id="27" name="editable-text-22">
            <a:extLst>
              <a:ext uri="{FF2B5EF4-FFF2-40B4-BE49-F238E27FC236}">
                <a16:creationId xmlns:a16="http://schemas.microsoft.com/office/drawing/2014/main" id="{4B59D545-CA7D-4F62-8DDC-283E553C4F85}"/>
              </a:ext>
            </a:extLst>
          </p:cNvPr>
          <p:cNvSpPr>
            <a:spLocks noGrp="1"/>
          </p:cNvSpPr>
          <p:nvPr/>
        </p:nvSpPr>
        <p:spPr>
          <a:xfrm>
            <a:off x="933450" y="15230475"/>
            <a:ext cx="17754600" cy="495300"/>
          </a:xfrm>
          <a:prstGeom prst="rect">
            <a:avLst/>
          </a:prstGeom>
          <a:noFill/>
          <a:ln w="0">
            <a:noFill/>
          </a:ln>
        </p:spPr>
        <p:txBody>
          <a:bodyPr wrap="square" lIns="0" tIns="0" rIns="0" bIns="0" anchor="t">
            <a:noAutofit/>
          </a:bodyPr>
          <a:lstStyle/>
          <a:p>
            <a:pPr algn="l">
              <a:defRPr sz="3150" b="1">
                <a:solidFill>
                  <a:srgbClr val="0D3075"/>
                </a:solidFill>
                <a:latin typeface="Nimbus Sans"/>
                <a:ea typeface="Nimbus Sans"/>
                <a:cs typeface="Nimbus Sans"/>
              </a:defRPr>
            </a:pPr>
            <a:r>
              <a:rPr sz="3150" b="1">
                <a:solidFill>
                  <a:srgbClr val="0D3075"/>
                </a:solidFill>
                <a:latin typeface="Nimbus Sans"/>
                <a:ea typeface="Nimbus Sans"/>
                <a:cs typeface="Nimbus Sans"/>
              </a:rPr>
              <a:t>03  Results and Analysis</a:t>
            </a:r>
          </a:p>
        </p:txBody>
      </p:sp>
      <p:graphicFrame>
        <p:nvGraphicFramePr>
          <p:cNvPr id="75" name="Table 74"/>
          <p:cNvGraphicFramePr/>
          <p:nvPr>
            <p:extLst>
              <p:ext uri="{D42A27DB-BD31-4B8C-83A1-F6EECF244321}">
                <p14:modId xmlns:p14="http://schemas.microsoft.com/office/powerpoint/2010/main" val="4184704807"/>
              </p:ext>
            </p:extLst>
          </p:nvPr>
        </p:nvGraphicFramePr>
        <p:xfrm>
          <a:off x="762000" y="16002000"/>
          <a:ext cx="18097500" cy="2133600"/>
        </p:xfrm>
        <a:graphic>
          <a:graphicData uri="http://schemas.openxmlformats.org/drawingml/2006/table">
            <a:tbl>
              <a:tblPr/>
              <a:tblGrid>
                <a:gridCol w="2492006">
                  <a:extLst>
                    <a:ext uri="{9D8B030D-6E8A-4147-A177-3AD203B41FA5}">
                      <a16:colId xmlns:a16="http://schemas.microsoft.com/office/drawing/2014/main" val="20000"/>
                    </a:ext>
                  </a:extLst>
                </a:gridCol>
                <a:gridCol w="3710674">
                  <a:extLst>
                    <a:ext uri="{9D8B030D-6E8A-4147-A177-3AD203B41FA5}">
                      <a16:colId xmlns:a16="http://schemas.microsoft.com/office/drawing/2014/main" val="20001"/>
                    </a:ext>
                  </a:extLst>
                </a:gridCol>
                <a:gridCol w="3962400">
                  <a:extLst>
                    <a:ext uri="{9D8B030D-6E8A-4147-A177-3AD203B41FA5}">
                      <a16:colId xmlns:a16="http://schemas.microsoft.com/office/drawing/2014/main" val="20002"/>
                    </a:ext>
                  </a:extLst>
                </a:gridCol>
                <a:gridCol w="3840480">
                  <a:extLst>
                    <a:ext uri="{9D8B030D-6E8A-4147-A177-3AD203B41FA5}">
                      <a16:colId xmlns:a16="http://schemas.microsoft.com/office/drawing/2014/main" val="116774646"/>
                    </a:ext>
                  </a:extLst>
                </a:gridCol>
                <a:gridCol w="4091940">
                  <a:extLst>
                    <a:ext uri="{9D8B030D-6E8A-4147-A177-3AD203B41FA5}">
                      <a16:colId xmlns:a16="http://schemas.microsoft.com/office/drawing/2014/main" val="20003"/>
                    </a:ext>
                  </a:extLst>
                </a:gridCol>
              </a:tblGrid>
              <a:tr h="533400">
                <a:tc>
                  <a:txBody>
                    <a:bodyPr/>
                    <a:lstStyle/>
                    <a:p>
                      <a:pPr algn="l"/>
                      <a:r>
                        <a:rPr sz="2550" b="1">
                          <a:solidFill>
                            <a:srgbClr val="FFFFFF"/>
                          </a:solidFill>
                          <a:latin typeface="Nimbus Sans"/>
                          <a:ea typeface="Nimbus Sans"/>
                          <a:cs typeface="Nimbus Sans"/>
                        </a:rPr>
                        <a:t>Method</a:t>
                      </a:r>
                    </a:p>
                  </a:txBody>
                  <a:tcPr anchor="ctr">
                    <a:solidFill>
                      <a:srgbClr val="0D3075"/>
                    </a:solidFill>
                  </a:tcPr>
                </a:tc>
                <a:tc>
                  <a:txBody>
                    <a:bodyPr/>
                    <a:lstStyle/>
                    <a:p>
                      <a:pPr algn="ctr"/>
                      <a:r>
                        <a:rPr sz="2550" b="1">
                          <a:solidFill>
                            <a:srgbClr val="FFFFFF"/>
                          </a:solidFill>
                          <a:latin typeface="Nimbus Sans"/>
                          <a:ea typeface="Nimbus Sans"/>
                          <a:cs typeface="Nimbus Sans"/>
                        </a:rPr>
                        <a:t>NaturalPlan</a:t>
                      </a:r>
                    </a:p>
                  </a:txBody>
                  <a:tcPr anchor="ctr">
                    <a:solidFill>
                      <a:srgbClr val="0D3075"/>
                    </a:solidFill>
                  </a:tcPr>
                </a:tc>
                <a:tc>
                  <a:txBody>
                    <a:bodyPr/>
                    <a:lstStyle/>
                    <a:p>
                      <a:pPr algn="ctr"/>
                      <a:r>
                        <a:rPr lang="en-US" sz="2550" b="1" dirty="0">
                          <a:solidFill>
                            <a:srgbClr val="FFFFFF"/>
                          </a:solidFill>
                          <a:latin typeface="Nimbus Sans"/>
                          <a:ea typeface="Nimbus Sans"/>
                          <a:cs typeface="Nimbus Sans"/>
                        </a:rPr>
                        <a:t>Plan Gen.</a:t>
                      </a:r>
                    </a:p>
                  </a:txBody>
                  <a:tcPr anchor="ctr">
                    <a:solidFill>
                      <a:srgbClr val="0D3075"/>
                    </a:solidFill>
                  </a:tcPr>
                </a:tc>
                <a:tc>
                  <a:txBody>
                    <a:bodyPr/>
                    <a:lstStyle/>
                    <a:p>
                      <a:pPr algn="ctr"/>
                      <a:r>
                        <a:rPr lang="en-US" sz="2550" b="1" dirty="0">
                          <a:solidFill>
                            <a:srgbClr val="FFFFFF"/>
                          </a:solidFill>
                          <a:latin typeface="Nimbus Sans"/>
                          <a:ea typeface="Nimbus Sans"/>
                          <a:cs typeface="Nimbus Sans"/>
                        </a:rPr>
                        <a:t>Plan Gen Easy</a:t>
                      </a:r>
                    </a:p>
                  </a:txBody>
                  <a:tcPr anchor="ctr">
                    <a:solidFill>
                      <a:srgbClr val="0D3075"/>
                    </a:solidFill>
                  </a:tcPr>
                </a:tc>
                <a:tc>
                  <a:txBody>
                    <a:bodyPr/>
                    <a:lstStyle/>
                    <a:p>
                      <a:pPr algn="ctr"/>
                      <a:r>
                        <a:rPr lang="en-US" sz="2550" b="1" dirty="0" err="1">
                          <a:solidFill>
                            <a:srgbClr val="FFFFFF"/>
                          </a:solidFill>
                          <a:latin typeface="Nimbus Sans"/>
                          <a:ea typeface="Nimbus Sans"/>
                          <a:cs typeface="Nimbus Sans"/>
                        </a:rPr>
                        <a:t>StructureSAT</a:t>
                      </a:r>
                      <a:endParaRPr lang="en-US" sz="2550" b="1" dirty="0">
                        <a:solidFill>
                          <a:srgbClr val="FFFFFF"/>
                        </a:solidFill>
                        <a:latin typeface="Nimbus Sans"/>
                        <a:ea typeface="Nimbus Sans"/>
                        <a:cs typeface="Nimbus Sans"/>
                      </a:endParaRPr>
                    </a:p>
                  </a:txBody>
                  <a:tcPr anchor="ctr">
                    <a:solidFill>
                      <a:srgbClr val="0D3075"/>
                    </a:solidFill>
                  </a:tcPr>
                </a:tc>
                <a:extLst>
                  <a:ext uri="{0D108BD9-81ED-4DB2-BD59-A6C34878D82A}">
                    <a16:rowId xmlns:a16="http://schemas.microsoft.com/office/drawing/2014/main" val="10000"/>
                  </a:ext>
                </a:extLst>
              </a:tr>
              <a:tr h="533400">
                <a:tc>
                  <a:txBody>
                    <a:bodyPr/>
                    <a:lstStyle/>
                    <a:p>
                      <a:pPr algn="l"/>
                      <a:r>
                        <a:rPr sz="2700" b="0">
                          <a:solidFill>
                            <a:srgbClr val="172637"/>
                          </a:solidFill>
                          <a:latin typeface="Nimbus Sans"/>
                          <a:ea typeface="Nimbus Sans"/>
                          <a:cs typeface="Nimbus Sans"/>
                        </a:rPr>
                        <a:t>CoT</a:t>
                      </a:r>
                    </a:p>
                  </a:txBody>
                  <a:tcPr anchor="ctr">
                    <a:solidFill>
                      <a:srgbClr val="FFFFFF"/>
                    </a:solidFill>
                  </a:tcPr>
                </a:tc>
                <a:tc>
                  <a:txBody>
                    <a:bodyPr/>
                    <a:lstStyle/>
                    <a:p>
                      <a:pPr algn="ctr"/>
                      <a:r>
                        <a:rPr sz="2700" b="0">
                          <a:solidFill>
                            <a:srgbClr val="172637"/>
                          </a:solidFill>
                          <a:latin typeface="Nimbus Sans"/>
                          <a:ea typeface="Nimbus Sans"/>
                          <a:cs typeface="Nimbus Sans"/>
                        </a:rPr>
                        <a:t>86.10</a:t>
                      </a:r>
                    </a:p>
                  </a:txBody>
                  <a:tcPr anchor="ctr">
                    <a:solidFill>
                      <a:srgbClr val="FFFFFF"/>
                    </a:solidFill>
                  </a:tcPr>
                </a:tc>
                <a:tc>
                  <a:txBody>
                    <a:bodyPr/>
                    <a:lstStyle/>
                    <a:p>
                      <a:pPr algn="ctr"/>
                      <a:r>
                        <a:rPr lang="en-US" sz="2700" b="0">
                          <a:solidFill>
                            <a:srgbClr val="172637"/>
                          </a:solidFill>
                          <a:latin typeface="Nimbus Sans"/>
                          <a:ea typeface="Nimbus Sans"/>
                          <a:cs typeface="Nimbus Sans"/>
                        </a:rPr>
                        <a:t>21.30</a:t>
                      </a:r>
                      <a:endParaRPr lang="en-US" sz="2700" b="0" dirty="0">
                        <a:solidFill>
                          <a:srgbClr val="172637"/>
                        </a:solidFill>
                        <a:latin typeface="Nimbus Sans"/>
                        <a:ea typeface="Nimbus Sans"/>
                        <a:cs typeface="Nimbus Sans"/>
                      </a:endParaRPr>
                    </a:p>
                  </a:txBody>
                  <a:tcPr anchor="ctr">
                    <a:solidFill>
                      <a:srgbClr val="FFFFFF"/>
                    </a:solidFill>
                  </a:tcPr>
                </a:tc>
                <a:tc>
                  <a:txBody>
                    <a:bodyPr/>
                    <a:lstStyle/>
                    <a:p>
                      <a:pPr algn="ctr"/>
                      <a:r>
                        <a:rPr lang="en-US" sz="2700" b="0" dirty="0">
                          <a:solidFill>
                            <a:srgbClr val="172637"/>
                          </a:solidFill>
                          <a:latin typeface="Nimbus Sans"/>
                          <a:ea typeface="Nimbus Sans"/>
                          <a:cs typeface="Nimbus Sans"/>
                        </a:rPr>
                        <a:t>27.10</a:t>
                      </a:r>
                    </a:p>
                  </a:txBody>
                  <a:tcPr anchor="ctr">
                    <a:solidFill>
                      <a:srgbClr val="FFFFFF"/>
                    </a:solidFill>
                  </a:tcPr>
                </a:tc>
                <a:tc>
                  <a:txBody>
                    <a:bodyPr/>
                    <a:lstStyle/>
                    <a:p>
                      <a:pPr algn="ctr"/>
                      <a:r>
                        <a:rPr lang="en-US" sz="2700" b="0" dirty="0">
                          <a:solidFill>
                            <a:srgbClr val="172637"/>
                          </a:solidFill>
                          <a:latin typeface="Nimbus Sans"/>
                          <a:ea typeface="Nimbus Sans"/>
                          <a:cs typeface="Nimbus Sans"/>
                        </a:rPr>
                        <a:t>30.37</a:t>
                      </a:r>
                    </a:p>
                  </a:txBody>
                  <a:tcPr anchor="ctr">
                    <a:solidFill>
                      <a:srgbClr val="FFFFFF"/>
                    </a:solidFill>
                  </a:tcPr>
                </a:tc>
                <a:extLst>
                  <a:ext uri="{0D108BD9-81ED-4DB2-BD59-A6C34878D82A}">
                    <a16:rowId xmlns:a16="http://schemas.microsoft.com/office/drawing/2014/main" val="10001"/>
                  </a:ext>
                </a:extLst>
              </a:tr>
              <a:tr h="533400">
                <a:tc>
                  <a:txBody>
                    <a:bodyPr/>
                    <a:lstStyle/>
                    <a:p>
                      <a:pPr algn="l"/>
                      <a:r>
                        <a:rPr sz="2700" b="0">
                          <a:solidFill>
                            <a:srgbClr val="172637"/>
                          </a:solidFill>
                          <a:latin typeface="Nimbus Sans"/>
                          <a:ea typeface="Nimbus Sans"/>
                          <a:cs typeface="Nimbus Sans"/>
                        </a:rPr>
                        <a:t>SCOPE</a:t>
                      </a:r>
                    </a:p>
                  </a:txBody>
                  <a:tcPr anchor="ctr">
                    <a:solidFill>
                      <a:srgbClr val="F5F8FC"/>
                    </a:solidFill>
                  </a:tcPr>
                </a:tc>
                <a:tc>
                  <a:txBody>
                    <a:bodyPr/>
                    <a:lstStyle/>
                    <a:p>
                      <a:pPr algn="ctr"/>
                      <a:r>
                        <a:rPr sz="2700" b="0">
                          <a:solidFill>
                            <a:srgbClr val="172637"/>
                          </a:solidFill>
                          <a:latin typeface="Nimbus Sans"/>
                          <a:ea typeface="Nimbus Sans"/>
                          <a:cs typeface="Nimbus Sans"/>
                        </a:rPr>
                        <a:t>96.00</a:t>
                      </a:r>
                    </a:p>
                  </a:txBody>
                  <a:tcPr anchor="ctr">
                    <a:solidFill>
                      <a:srgbClr val="F5F8FC"/>
                    </a:solidFill>
                  </a:tcPr>
                </a:tc>
                <a:tc>
                  <a:txBody>
                    <a:bodyPr/>
                    <a:lstStyle/>
                    <a:p>
                      <a:pPr algn="ctr"/>
                      <a:r>
                        <a:rPr lang="en-US" sz="2700" b="0">
                          <a:solidFill>
                            <a:srgbClr val="172637"/>
                          </a:solidFill>
                          <a:latin typeface="Nimbus Sans"/>
                          <a:ea typeface="Nimbus Sans"/>
                          <a:cs typeface="Nimbus Sans"/>
                        </a:rPr>
                        <a:t>15.74</a:t>
                      </a:r>
                      <a:endParaRPr lang="en-US" sz="2700" b="0" dirty="0">
                        <a:solidFill>
                          <a:srgbClr val="172637"/>
                        </a:solidFill>
                        <a:latin typeface="Nimbus Sans"/>
                        <a:ea typeface="Nimbus Sans"/>
                        <a:cs typeface="Nimbus Sans"/>
                      </a:endParaRPr>
                    </a:p>
                  </a:txBody>
                  <a:tcPr anchor="ctr">
                    <a:solidFill>
                      <a:srgbClr val="F5F8FC"/>
                    </a:solidFill>
                  </a:tcPr>
                </a:tc>
                <a:tc>
                  <a:txBody>
                    <a:bodyPr/>
                    <a:lstStyle/>
                    <a:p>
                      <a:pPr algn="ctr"/>
                      <a:r>
                        <a:rPr lang="en-US" sz="2700" b="0" dirty="0">
                          <a:solidFill>
                            <a:srgbClr val="172637"/>
                          </a:solidFill>
                          <a:latin typeface="Nimbus Sans"/>
                          <a:ea typeface="Nimbus Sans"/>
                          <a:cs typeface="Nimbus Sans"/>
                        </a:rPr>
                        <a:t>42.20</a:t>
                      </a:r>
                    </a:p>
                  </a:txBody>
                  <a:tcPr anchor="ctr">
                    <a:solidFill>
                      <a:srgbClr val="F5F8FC"/>
                    </a:solidFill>
                  </a:tcPr>
                </a:tc>
                <a:tc>
                  <a:txBody>
                    <a:bodyPr/>
                    <a:lstStyle/>
                    <a:p>
                      <a:pPr algn="ctr"/>
                      <a:r>
                        <a:rPr lang="en-US" sz="2700" b="0">
                          <a:solidFill>
                            <a:srgbClr val="172637"/>
                          </a:solidFill>
                          <a:latin typeface="Nimbus Sans"/>
                          <a:ea typeface="Nimbus Sans"/>
                          <a:cs typeface="Nimbus Sans"/>
                        </a:rPr>
                        <a:t>99.70</a:t>
                      </a:r>
                      <a:endParaRPr lang="en-US" sz="2700" b="0" dirty="0">
                        <a:solidFill>
                          <a:srgbClr val="172637"/>
                        </a:solidFill>
                        <a:latin typeface="Nimbus Sans"/>
                        <a:ea typeface="Nimbus Sans"/>
                        <a:cs typeface="Nimbus Sans"/>
                      </a:endParaRPr>
                    </a:p>
                  </a:txBody>
                  <a:tcPr anchor="ctr">
                    <a:solidFill>
                      <a:srgbClr val="F5F8FC"/>
                    </a:solidFill>
                  </a:tcPr>
                </a:tc>
                <a:extLst>
                  <a:ext uri="{0D108BD9-81ED-4DB2-BD59-A6C34878D82A}">
                    <a16:rowId xmlns:a16="http://schemas.microsoft.com/office/drawing/2014/main" val="10002"/>
                  </a:ext>
                </a:extLst>
              </a:tr>
              <a:tr h="533400">
                <a:tc>
                  <a:txBody>
                    <a:bodyPr/>
                    <a:lstStyle/>
                    <a:p>
                      <a:pPr algn="l"/>
                      <a:r>
                        <a:rPr sz="2700" b="1">
                          <a:solidFill>
                            <a:srgbClr val="172637"/>
                          </a:solidFill>
                          <a:latin typeface="Nimbus Sans"/>
                          <a:ea typeface="Nimbus Sans"/>
                          <a:cs typeface="Nimbus Sans"/>
                        </a:rPr>
                        <a:t>PlanForge</a:t>
                      </a:r>
                    </a:p>
                  </a:txBody>
                  <a:tcPr anchor="ctr">
                    <a:solidFill>
                      <a:srgbClr val="DFECFA"/>
                    </a:solidFill>
                  </a:tcPr>
                </a:tc>
                <a:tc>
                  <a:txBody>
                    <a:bodyPr/>
                    <a:lstStyle/>
                    <a:p>
                      <a:pPr algn="ctr"/>
                      <a:r>
                        <a:rPr sz="2700" b="1">
                          <a:solidFill>
                            <a:srgbClr val="172637"/>
                          </a:solidFill>
                          <a:latin typeface="Nimbus Sans"/>
                          <a:ea typeface="Nimbus Sans"/>
                          <a:cs typeface="Nimbus Sans"/>
                        </a:rPr>
                        <a:t>100.00</a:t>
                      </a:r>
                    </a:p>
                  </a:txBody>
                  <a:tcPr anchor="ctr">
                    <a:solidFill>
                      <a:srgbClr val="DFECFA"/>
                    </a:solidFill>
                  </a:tcPr>
                </a:tc>
                <a:tc>
                  <a:txBody>
                    <a:bodyPr/>
                    <a:lstStyle/>
                    <a:p>
                      <a:pPr algn="ctr"/>
                      <a:r>
                        <a:rPr lang="en-US" sz="2700" b="1" dirty="0">
                          <a:solidFill>
                            <a:srgbClr val="172637"/>
                          </a:solidFill>
                          <a:latin typeface="Nimbus Sans"/>
                          <a:ea typeface="Nimbus Sans"/>
                          <a:cs typeface="Nimbus Sans"/>
                        </a:rPr>
                        <a:t>92.41</a:t>
                      </a:r>
                    </a:p>
                  </a:txBody>
                  <a:tcPr anchor="ctr">
                    <a:solidFill>
                      <a:srgbClr val="DFECFA"/>
                    </a:solidFill>
                  </a:tcPr>
                </a:tc>
                <a:tc>
                  <a:txBody>
                    <a:bodyPr/>
                    <a:lstStyle/>
                    <a:p>
                      <a:pPr algn="ctr"/>
                      <a:r>
                        <a:rPr lang="en-US" sz="2700" b="1" dirty="0">
                          <a:solidFill>
                            <a:srgbClr val="172637"/>
                          </a:solidFill>
                          <a:latin typeface="Nimbus Sans"/>
                          <a:ea typeface="Nimbus Sans"/>
                          <a:cs typeface="Nimbus Sans"/>
                        </a:rPr>
                        <a:t>100.00</a:t>
                      </a:r>
                    </a:p>
                  </a:txBody>
                  <a:tcPr anchor="ctr">
                    <a:solidFill>
                      <a:srgbClr val="DFECFA"/>
                    </a:solidFill>
                  </a:tcPr>
                </a:tc>
                <a:tc>
                  <a:txBody>
                    <a:bodyPr/>
                    <a:lstStyle/>
                    <a:p>
                      <a:pPr algn="ctr"/>
                      <a:r>
                        <a:rPr lang="en-US" sz="2700" b="1" dirty="0">
                          <a:solidFill>
                            <a:srgbClr val="172637"/>
                          </a:solidFill>
                          <a:latin typeface="Nimbus Sans"/>
                          <a:ea typeface="Nimbus Sans"/>
                          <a:cs typeface="Nimbus Sans"/>
                        </a:rPr>
                        <a:t>100.00</a:t>
                      </a:r>
                    </a:p>
                  </a:txBody>
                  <a:tcPr anchor="ctr">
                    <a:solidFill>
                      <a:srgbClr val="DFECFA"/>
                    </a:solidFill>
                  </a:tcPr>
                </a:tc>
                <a:extLst>
                  <a:ext uri="{0D108BD9-81ED-4DB2-BD59-A6C34878D82A}">
                    <a16:rowId xmlns:a16="http://schemas.microsoft.com/office/drawing/2014/main" val="10003"/>
                  </a:ext>
                </a:extLst>
              </a:tr>
            </a:tbl>
          </a:graphicData>
        </a:graphic>
      </p:graphicFrame>
      <p:sp>
        <p:nvSpPr>
          <p:cNvPr id="29" name="editable-text-23">
            <a:extLst>
              <a:ext uri="{FF2B5EF4-FFF2-40B4-BE49-F238E27FC236}">
                <a16:creationId xmlns:a16="http://schemas.microsoft.com/office/drawing/2014/main" id="{FBFB197C-6665-42AB-B7E7-D4769B39AB63}"/>
              </a:ext>
            </a:extLst>
          </p:cNvPr>
          <p:cNvSpPr>
            <a:spLocks noGrp="1"/>
          </p:cNvSpPr>
          <p:nvPr/>
        </p:nvSpPr>
        <p:spPr>
          <a:xfrm>
            <a:off x="762000" y="18269043"/>
            <a:ext cx="16794480" cy="464155"/>
          </a:xfrm>
          <a:prstGeom prst="rect">
            <a:avLst/>
          </a:prstGeom>
          <a:noFill/>
          <a:ln w="0">
            <a:noFill/>
          </a:ln>
        </p:spPr>
        <p:txBody>
          <a:bodyPr wrap="square" lIns="0" tIns="0" rIns="0" bIns="0" anchor="t">
            <a:noAutofit/>
          </a:bodyPr>
          <a:lstStyle/>
          <a:p>
            <a:pPr algn="l">
              <a:defRPr sz="2250" b="0">
                <a:solidFill>
                  <a:srgbClr val="465463"/>
                </a:solidFill>
                <a:latin typeface="Nimbus Sans"/>
                <a:ea typeface="Nimbus Sans"/>
                <a:cs typeface="Nimbus Sans"/>
              </a:defRPr>
            </a:pPr>
            <a:r>
              <a:rPr sz="2250" b="0" dirty="0">
                <a:solidFill>
                  <a:srgbClr val="465463"/>
                </a:solidFill>
                <a:latin typeface="Nimbus Sans"/>
                <a:ea typeface="Nimbus Sans"/>
                <a:cs typeface="Nimbus Sans"/>
              </a:rPr>
              <a:t>Table </a:t>
            </a:r>
            <a:r>
              <a:rPr lang="en-US" sz="2250" b="0" dirty="0">
                <a:solidFill>
                  <a:srgbClr val="465463"/>
                </a:solidFill>
                <a:latin typeface="Nimbus Sans"/>
                <a:ea typeface="Nimbus Sans"/>
                <a:cs typeface="Nimbus Sans"/>
              </a:rPr>
              <a:t>1</a:t>
            </a:r>
            <a:r>
              <a:rPr sz="2250" b="0" dirty="0">
                <a:solidFill>
                  <a:srgbClr val="465463"/>
                </a:solidFill>
                <a:latin typeface="Nimbus Sans"/>
                <a:ea typeface="Nimbus Sans"/>
                <a:cs typeface="Nimbus Sans"/>
              </a:rPr>
              <a:t> (%). </a:t>
            </a:r>
            <a:r>
              <a:rPr sz="2250" b="0" dirty="0" err="1">
                <a:solidFill>
                  <a:srgbClr val="465463"/>
                </a:solidFill>
                <a:latin typeface="Nimbus Sans"/>
                <a:ea typeface="Nimbus Sans"/>
                <a:cs typeface="Nimbus Sans"/>
              </a:rPr>
              <a:t>NaturalPlan</a:t>
            </a:r>
            <a:r>
              <a:rPr sz="2250" b="0" dirty="0">
                <a:solidFill>
                  <a:srgbClr val="465463"/>
                </a:solidFill>
                <a:latin typeface="Nimbus Sans"/>
                <a:ea typeface="Nimbus Sans"/>
                <a:cs typeface="Nimbus Sans"/>
              </a:rPr>
              <a:t> and </a:t>
            </a:r>
            <a:r>
              <a:rPr sz="2250" b="0" dirty="0" err="1">
                <a:solidFill>
                  <a:srgbClr val="465463"/>
                </a:solidFill>
                <a:latin typeface="Nimbus Sans"/>
                <a:ea typeface="Nimbus Sans"/>
                <a:cs typeface="Nimbus Sans"/>
              </a:rPr>
              <a:t>StructureSAT</a:t>
            </a:r>
            <a:r>
              <a:rPr sz="2250" b="0" dirty="0">
                <a:solidFill>
                  <a:srgbClr val="465463"/>
                </a:solidFill>
                <a:latin typeface="Nimbus Sans"/>
                <a:ea typeface="Nimbus Sans"/>
                <a:cs typeface="Nimbus Sans"/>
              </a:rPr>
              <a:t>: success rate. Plan Gen.: VAL-verified accuracy.</a:t>
            </a:r>
            <a:r>
              <a:rPr lang="en-US" sz="2250" b="0" dirty="0">
                <a:solidFill>
                  <a:srgbClr val="465463"/>
                </a:solidFill>
                <a:latin typeface="Nimbus Sans"/>
                <a:ea typeface="Nimbus Sans"/>
                <a:cs typeface="Nimbus Sans"/>
              </a:rPr>
              <a:t> On </a:t>
            </a:r>
            <a:r>
              <a:rPr sz="2250" b="0" dirty="0">
                <a:solidFill>
                  <a:srgbClr val="465463"/>
                </a:solidFill>
                <a:latin typeface="Nimbus Sans"/>
                <a:ea typeface="Nimbus Sans"/>
                <a:cs typeface="Nimbus Sans"/>
              </a:rPr>
              <a:t>Baselines: CoT and</a:t>
            </a:r>
            <a:r>
              <a:rPr lang="en-US" sz="2250" b="0" dirty="0">
                <a:solidFill>
                  <a:srgbClr val="465463"/>
                </a:solidFill>
                <a:latin typeface="Nimbus Sans"/>
                <a:ea typeface="Nimbus Sans"/>
                <a:cs typeface="Nimbus Sans"/>
              </a:rPr>
              <a:t> our</a:t>
            </a:r>
            <a:r>
              <a:rPr sz="2250" b="0" dirty="0">
                <a:solidFill>
                  <a:srgbClr val="465463"/>
                </a:solidFill>
                <a:latin typeface="Nimbus Sans"/>
                <a:ea typeface="Nimbus Sans"/>
                <a:cs typeface="Nimbus Sans"/>
              </a:rPr>
              <a:t> SCOPE</a:t>
            </a:r>
            <a:r>
              <a:rPr lang="en-US" sz="2250" b="0" dirty="0">
                <a:solidFill>
                  <a:srgbClr val="465463"/>
                </a:solidFill>
                <a:latin typeface="Nimbus Sans"/>
                <a:ea typeface="Nimbus Sans"/>
                <a:cs typeface="Nimbus Sans"/>
              </a:rPr>
              <a:t> re-implementation</a:t>
            </a:r>
            <a:r>
              <a:rPr sz="2250" b="0" dirty="0">
                <a:solidFill>
                  <a:srgbClr val="465463"/>
                </a:solidFill>
                <a:latin typeface="Nimbus Sans"/>
                <a:ea typeface="Nimbus Sans"/>
                <a:cs typeface="Nimbus Sans"/>
              </a:rPr>
              <a:t>. </a:t>
            </a:r>
          </a:p>
        </p:txBody>
      </p:sp>
      <p:sp>
        <p:nvSpPr>
          <p:cNvPr id="30" name="editable-text-24">
            <a:extLst>
              <a:ext uri="{FF2B5EF4-FFF2-40B4-BE49-F238E27FC236}">
                <a16:creationId xmlns:a16="http://schemas.microsoft.com/office/drawing/2014/main" id="{595A09D5-4CEA-4696-BE7C-441823E367E4}"/>
              </a:ext>
            </a:extLst>
          </p:cNvPr>
          <p:cNvSpPr>
            <a:spLocks noGrp="1"/>
          </p:cNvSpPr>
          <p:nvPr/>
        </p:nvSpPr>
        <p:spPr>
          <a:xfrm>
            <a:off x="838200" y="18733198"/>
            <a:ext cx="17945100" cy="590549"/>
          </a:xfrm>
          <a:prstGeom prst="rect">
            <a:avLst/>
          </a:prstGeom>
          <a:noFill/>
          <a:ln w="0">
            <a:noFill/>
          </a:ln>
        </p:spPr>
        <p:txBody>
          <a:bodyPr wrap="square" lIns="0" tIns="0" rIns="0" bIns="0" anchor="t">
            <a:noAutofit/>
          </a:bodyPr>
          <a:lstStyle/>
          <a:p>
            <a:pPr marL="342900" indent="-342900" algn="l">
              <a:buFont typeface="Arial" panose="020B0604020202020204" pitchFamily="34" charset="0"/>
              <a:buChar char="•"/>
              <a:defRPr sz="2400" b="0">
                <a:solidFill>
                  <a:srgbClr val="172637"/>
                </a:solidFill>
                <a:latin typeface="Nimbus Sans"/>
                <a:ea typeface="Nimbus Sans"/>
                <a:cs typeface="Nimbus Sans"/>
              </a:defRPr>
            </a:pPr>
            <a:r>
              <a:rPr sz="2400" b="1" dirty="0" err="1">
                <a:solidFill>
                  <a:srgbClr val="172637"/>
                </a:solidFill>
                <a:latin typeface="Nimbus Sans"/>
                <a:ea typeface="Nimbus Sans"/>
                <a:cs typeface="Nimbus Sans"/>
              </a:rPr>
              <a:t>NaturalPlan</a:t>
            </a:r>
            <a:r>
              <a:rPr lang="en-US" sz="2400" b="1" dirty="0">
                <a:solidFill>
                  <a:srgbClr val="172637"/>
                </a:solidFill>
                <a:latin typeface="Nimbus Sans"/>
                <a:ea typeface="Nimbus Sans"/>
                <a:cs typeface="Nimbus Sans"/>
              </a:rPr>
              <a:t> </a:t>
            </a:r>
            <a:r>
              <a:rPr sz="2400" b="0" dirty="0">
                <a:solidFill>
                  <a:srgbClr val="172637"/>
                </a:solidFill>
                <a:latin typeface="Nimbus Sans"/>
                <a:ea typeface="Nimbus Sans"/>
                <a:cs typeface="Nimbus Sans"/>
              </a:rPr>
              <a:t>: trip, meeting and calendar planning; 97.55% Exact Match, with an LLM judge for unmatched outputs.</a:t>
            </a:r>
          </a:p>
        </p:txBody>
      </p:sp>
      <p:sp>
        <p:nvSpPr>
          <p:cNvPr id="31" name="editable-text-25">
            <a:extLst>
              <a:ext uri="{FF2B5EF4-FFF2-40B4-BE49-F238E27FC236}">
                <a16:creationId xmlns:a16="http://schemas.microsoft.com/office/drawing/2014/main" id="{0E5E00E1-3703-43D0-8C2E-A2C45C32493D}"/>
              </a:ext>
            </a:extLst>
          </p:cNvPr>
          <p:cNvSpPr>
            <a:spLocks noGrp="1"/>
          </p:cNvSpPr>
          <p:nvPr/>
        </p:nvSpPr>
        <p:spPr>
          <a:xfrm>
            <a:off x="838200" y="19257072"/>
            <a:ext cx="17945100" cy="843156"/>
          </a:xfrm>
          <a:prstGeom prst="rect">
            <a:avLst/>
          </a:prstGeom>
          <a:noFill/>
          <a:ln w="0">
            <a:noFill/>
          </a:ln>
        </p:spPr>
        <p:txBody>
          <a:bodyPr wrap="square" lIns="0" tIns="0" rIns="0" bIns="0" anchor="t">
            <a:noAutofit/>
          </a:bodyPr>
          <a:lstStyle/>
          <a:p>
            <a:pPr marL="342900" indent="-342900">
              <a:buFont typeface="Arial" panose="020B0604020202020204" pitchFamily="34" charset="0"/>
              <a:buChar char="•"/>
              <a:defRPr sz="2400" b="0">
                <a:solidFill>
                  <a:srgbClr val="172637"/>
                </a:solidFill>
                <a:latin typeface="Nimbus Sans"/>
                <a:ea typeface="Nimbus Sans"/>
                <a:cs typeface="Nimbus Sans"/>
              </a:defRPr>
            </a:pPr>
            <a:r>
              <a:rPr lang="en-US" sz="2400" b="1" dirty="0">
                <a:solidFill>
                  <a:srgbClr val="172637"/>
                </a:solidFill>
                <a:latin typeface="Nimbus Sans"/>
                <a:ea typeface="Nimbus Sans"/>
                <a:cs typeface="Nimbus Sans"/>
              </a:rPr>
              <a:t>Plan Gen Easy </a:t>
            </a:r>
            <a:r>
              <a:rPr lang="en-US" sz="2400" dirty="0">
                <a:solidFill>
                  <a:srgbClr val="172637"/>
                </a:solidFill>
                <a:latin typeface="Nimbus Sans"/>
                <a:ea typeface="Nimbus Sans"/>
                <a:cs typeface="Nimbus Sans"/>
              </a:rPr>
              <a:t>uses reference plans with 0–2 actions, separately from long-horizon Plan Gen.</a:t>
            </a:r>
          </a:p>
          <a:p>
            <a:pPr>
              <a:defRPr sz="2400" b="0">
                <a:solidFill>
                  <a:srgbClr val="172637"/>
                </a:solidFill>
                <a:latin typeface="Nimbus Sans"/>
                <a:ea typeface="Nimbus Sans"/>
                <a:cs typeface="Nimbus Sans"/>
              </a:defRPr>
            </a:pPr>
            <a:endParaRPr lang="en-US" sz="600" b="0" dirty="0">
              <a:solidFill>
                <a:srgbClr val="172637"/>
              </a:solidFill>
              <a:latin typeface="Nimbus Sans"/>
              <a:ea typeface="Nimbus Sans"/>
              <a:cs typeface="Nimbus Sans"/>
            </a:endParaRPr>
          </a:p>
          <a:p>
            <a:pPr marL="342900" indent="-342900" algn="l">
              <a:buFont typeface="Arial" panose="020B0604020202020204" pitchFamily="34" charset="0"/>
              <a:buChar char="•"/>
              <a:defRPr sz="2400" b="0">
                <a:solidFill>
                  <a:srgbClr val="172637"/>
                </a:solidFill>
                <a:latin typeface="Nimbus Sans"/>
                <a:ea typeface="Nimbus Sans"/>
                <a:cs typeface="Nimbus Sans"/>
              </a:defRPr>
            </a:pPr>
            <a:r>
              <a:rPr sz="2400" b="1" dirty="0">
                <a:solidFill>
                  <a:srgbClr val="172637"/>
                </a:solidFill>
                <a:latin typeface="Nimbus Sans"/>
                <a:ea typeface="Nimbus Sans"/>
                <a:cs typeface="Nimbus Sans"/>
              </a:rPr>
              <a:t>Plan Gen.</a:t>
            </a:r>
            <a:r>
              <a:rPr lang="en-US" sz="2400" b="1" dirty="0">
                <a:solidFill>
                  <a:srgbClr val="172637"/>
                </a:solidFill>
                <a:latin typeface="Nimbus Sans"/>
                <a:ea typeface="Nimbus Sans"/>
                <a:cs typeface="Nimbus Sans"/>
              </a:rPr>
              <a:t> </a:t>
            </a:r>
            <a:r>
              <a:rPr lang="en-US" sz="2400" dirty="0">
                <a:solidFill>
                  <a:srgbClr val="172637"/>
                </a:solidFill>
                <a:latin typeface="Nimbus Sans"/>
                <a:ea typeface="Nimbus Sans"/>
                <a:cs typeface="Nimbus Sans"/>
              </a:rPr>
              <a:t>: </a:t>
            </a:r>
            <a:r>
              <a:rPr sz="2400" b="0" dirty="0">
                <a:solidFill>
                  <a:srgbClr val="172637"/>
                </a:solidFill>
                <a:latin typeface="Nimbus Sans"/>
                <a:ea typeface="Nimbus Sans"/>
                <a:cs typeface="Nimbus Sans"/>
              </a:rPr>
              <a:t>15 </a:t>
            </a:r>
            <a:r>
              <a:rPr sz="2400" b="0" dirty="0" err="1">
                <a:solidFill>
                  <a:srgbClr val="172637"/>
                </a:solidFill>
                <a:latin typeface="Nimbus Sans"/>
                <a:ea typeface="Nimbus Sans"/>
                <a:cs typeface="Nimbus Sans"/>
              </a:rPr>
              <a:t>ACPBench</a:t>
            </a:r>
            <a:r>
              <a:rPr sz="2400" b="0" dirty="0">
                <a:solidFill>
                  <a:srgbClr val="172637"/>
                </a:solidFill>
                <a:latin typeface="Nimbus Sans"/>
                <a:ea typeface="Nimbus Sans"/>
                <a:cs typeface="Nimbus Sans"/>
              </a:rPr>
              <a:t>-inspired domains, with plans exceeding 600 actions.</a:t>
            </a:r>
            <a:r>
              <a:rPr lang="en-US" sz="2400" b="0" dirty="0">
                <a:solidFill>
                  <a:srgbClr val="172637"/>
                </a:solidFill>
                <a:latin typeface="Nimbus Sans"/>
                <a:ea typeface="Nimbus Sans"/>
                <a:cs typeface="Nimbus Sans"/>
              </a:rPr>
              <a:t> With Plan-</a:t>
            </a:r>
            <a:r>
              <a:rPr lang="en-US" sz="2400" dirty="0" err="1">
                <a:solidFill>
                  <a:srgbClr val="172637"/>
                </a:solidFill>
                <a:latin typeface="Nimbus Sans"/>
                <a:ea typeface="Nimbus Sans"/>
                <a:cs typeface="Nimbus Sans"/>
              </a:rPr>
              <a:t>e</a:t>
            </a:r>
            <a:r>
              <a:rPr lang="en-US" sz="2400" b="0" dirty="0" err="1">
                <a:solidFill>
                  <a:srgbClr val="172637"/>
                </a:solidFill>
                <a:latin typeface="Nimbus Sans"/>
                <a:ea typeface="Nimbus Sans"/>
                <a:cs typeface="Nimbus Sans"/>
              </a:rPr>
              <a:t>xistnce</a:t>
            </a:r>
            <a:r>
              <a:rPr lang="en-US" sz="2400" dirty="0">
                <a:solidFill>
                  <a:srgbClr val="172637"/>
                </a:solidFill>
                <a:latin typeface="Nimbus Sans"/>
                <a:ea typeface="Nimbus Sans"/>
                <a:cs typeface="Nimbus Sans"/>
              </a:rPr>
              <a:t> vs</a:t>
            </a:r>
            <a:r>
              <a:rPr lang="en-US" sz="2400" b="0" dirty="0">
                <a:solidFill>
                  <a:srgbClr val="172637"/>
                </a:solidFill>
                <a:latin typeface="Nimbus Sans"/>
                <a:ea typeface="Nimbus Sans"/>
                <a:cs typeface="Nimbus Sans"/>
              </a:rPr>
              <a:t> generation accuracy (%) for CoT </a:t>
            </a:r>
            <a:br>
              <a:rPr lang="en-US" sz="2400" b="0" dirty="0">
                <a:solidFill>
                  <a:srgbClr val="172637"/>
                </a:solidFill>
                <a:latin typeface="Nimbus Sans"/>
                <a:ea typeface="Nimbus Sans"/>
                <a:cs typeface="Nimbus Sans"/>
              </a:rPr>
            </a:br>
            <a:r>
              <a:rPr lang="en-US" sz="2400" b="0" dirty="0">
                <a:solidFill>
                  <a:srgbClr val="172637"/>
                </a:solidFill>
                <a:latin typeface="Nimbus Sans"/>
                <a:ea typeface="Nimbus Sans"/>
                <a:cs typeface="Nimbus Sans"/>
              </a:rPr>
              <a:t>(91.85 vs 21.30), and  SCOPE (18.52 vs 15.74) over estimating, where PlanForge as 98.89 existence and 92.41 generation accuracy scores.   </a:t>
            </a:r>
            <a:r>
              <a:rPr sz="2400" b="0" dirty="0">
                <a:solidFill>
                  <a:srgbClr val="172637"/>
                </a:solidFill>
                <a:latin typeface="Nimbus Sans"/>
                <a:ea typeface="Nimbus Sans"/>
                <a:cs typeface="Nimbus Sans"/>
              </a:rPr>
              <a:t> </a:t>
            </a:r>
          </a:p>
        </p:txBody>
      </p:sp>
      <p:sp>
        <p:nvSpPr>
          <p:cNvPr id="32" name="editable-text-26">
            <a:extLst>
              <a:ext uri="{FF2B5EF4-FFF2-40B4-BE49-F238E27FC236}">
                <a16:creationId xmlns:a16="http://schemas.microsoft.com/office/drawing/2014/main" id="{8739A6FD-D324-4A55-981F-A2AC0A6274B1}"/>
              </a:ext>
            </a:extLst>
          </p:cNvPr>
          <p:cNvSpPr>
            <a:spLocks noGrp="1"/>
          </p:cNvSpPr>
          <p:nvPr/>
        </p:nvSpPr>
        <p:spPr>
          <a:xfrm>
            <a:off x="838200" y="20608291"/>
            <a:ext cx="17945100" cy="600074"/>
          </a:xfrm>
          <a:prstGeom prst="rect">
            <a:avLst/>
          </a:prstGeom>
          <a:noFill/>
          <a:ln w="0">
            <a:noFill/>
          </a:ln>
        </p:spPr>
        <p:txBody>
          <a:bodyPr wrap="square" lIns="0" tIns="0" rIns="0" bIns="0" anchor="t">
            <a:noAutofit/>
          </a:bodyPr>
          <a:lstStyle/>
          <a:p>
            <a:pPr marL="342900" indent="-342900" algn="l">
              <a:buFont typeface="Arial" panose="020B0604020202020204" pitchFamily="34" charset="0"/>
              <a:buChar char="•"/>
              <a:defRPr sz="2400" b="0">
                <a:solidFill>
                  <a:srgbClr val="172637"/>
                </a:solidFill>
                <a:latin typeface="Nimbus Sans"/>
                <a:ea typeface="Nimbus Sans"/>
                <a:cs typeface="Nimbus Sans"/>
              </a:defRPr>
            </a:pPr>
            <a:r>
              <a:rPr sz="2400" b="1" dirty="0" err="1">
                <a:solidFill>
                  <a:srgbClr val="172637"/>
                </a:solidFill>
                <a:latin typeface="Nimbus Sans"/>
                <a:ea typeface="Nimbus Sans"/>
                <a:cs typeface="Nimbus Sans"/>
              </a:rPr>
              <a:t>StructureSAT</a:t>
            </a:r>
            <a:r>
              <a:rPr lang="en-US" sz="2400" b="1" dirty="0">
                <a:solidFill>
                  <a:srgbClr val="172637"/>
                </a:solidFill>
                <a:latin typeface="Nimbus Sans"/>
                <a:ea typeface="Nimbus Sans"/>
                <a:cs typeface="Nimbus Sans"/>
              </a:rPr>
              <a:t> </a:t>
            </a:r>
            <a:r>
              <a:rPr sz="2400" b="0" dirty="0">
                <a:solidFill>
                  <a:srgbClr val="172637"/>
                </a:solidFill>
                <a:latin typeface="Nimbus Sans"/>
                <a:ea typeface="Nimbus Sans"/>
                <a:cs typeface="Nimbus Sans"/>
              </a:rPr>
              <a:t>: nine CNF families; no natural-language descriptions. Success requires a valid assignment when one exists.</a:t>
            </a:r>
          </a:p>
        </p:txBody>
      </p:sp>
      <p:sp>
        <p:nvSpPr>
          <p:cNvPr id="33" name="background-27">
            <a:extLst>
              <a:ext uri="{FF2B5EF4-FFF2-40B4-BE49-F238E27FC236}">
                <a16:creationId xmlns:a16="http://schemas.microsoft.com/office/drawing/2014/main" id="{20021547-2404-4E58-82C9-C7CDB2660C16}"/>
              </a:ext>
            </a:extLst>
          </p:cNvPr>
          <p:cNvSpPr>
            <a:spLocks noGrp="1"/>
          </p:cNvSpPr>
          <p:nvPr/>
        </p:nvSpPr>
        <p:spPr>
          <a:xfrm>
            <a:off x="19621500" y="15144750"/>
            <a:ext cx="10706100" cy="628650"/>
          </a:xfrm>
          <a:prstGeom prst="rect">
            <a:avLst/>
          </a:prstGeom>
          <a:solidFill>
            <a:srgbClr val="DFECFA"/>
          </a:solidFill>
          <a:ln w="0">
            <a:noFill/>
          </a:ln>
        </p:spPr>
      </p:sp>
      <p:sp>
        <p:nvSpPr>
          <p:cNvPr id="34" name="editable-text-28">
            <a:extLst>
              <a:ext uri="{FF2B5EF4-FFF2-40B4-BE49-F238E27FC236}">
                <a16:creationId xmlns:a16="http://schemas.microsoft.com/office/drawing/2014/main" id="{855EE7DE-FCD7-47D7-A629-F07BF45B4919}"/>
              </a:ext>
            </a:extLst>
          </p:cNvPr>
          <p:cNvSpPr>
            <a:spLocks noGrp="1"/>
          </p:cNvSpPr>
          <p:nvPr/>
        </p:nvSpPr>
        <p:spPr>
          <a:xfrm>
            <a:off x="19792950" y="15230475"/>
            <a:ext cx="10363200" cy="495300"/>
          </a:xfrm>
          <a:prstGeom prst="rect">
            <a:avLst/>
          </a:prstGeom>
          <a:noFill/>
          <a:ln w="0">
            <a:noFill/>
          </a:ln>
        </p:spPr>
        <p:txBody>
          <a:bodyPr wrap="square" lIns="0" tIns="0" rIns="0" bIns="0" anchor="t">
            <a:noAutofit/>
          </a:bodyPr>
          <a:lstStyle/>
          <a:p>
            <a:pPr algn="l">
              <a:defRPr sz="3150" b="1">
                <a:solidFill>
                  <a:srgbClr val="0D3075"/>
                </a:solidFill>
                <a:latin typeface="Nimbus Sans"/>
                <a:ea typeface="Nimbus Sans"/>
                <a:cs typeface="Nimbus Sans"/>
              </a:defRPr>
            </a:pPr>
            <a:r>
              <a:rPr sz="3150" b="1">
                <a:solidFill>
                  <a:srgbClr val="0D3075"/>
                </a:solidFill>
                <a:latin typeface="Nimbus Sans"/>
                <a:ea typeface="Nimbus Sans"/>
                <a:cs typeface="Nimbus Sans"/>
              </a:rPr>
              <a:t>04  Ablation Studies</a:t>
            </a:r>
          </a:p>
        </p:txBody>
      </p:sp>
      <p:sp>
        <p:nvSpPr>
          <p:cNvPr id="35" name="editable-text-29">
            <a:extLst>
              <a:ext uri="{FF2B5EF4-FFF2-40B4-BE49-F238E27FC236}">
                <a16:creationId xmlns:a16="http://schemas.microsoft.com/office/drawing/2014/main" id="{90E7A495-D8C3-4AC1-AA3B-42F79B172910}"/>
              </a:ext>
            </a:extLst>
          </p:cNvPr>
          <p:cNvSpPr>
            <a:spLocks noGrp="1"/>
          </p:cNvSpPr>
          <p:nvPr/>
        </p:nvSpPr>
        <p:spPr>
          <a:xfrm>
            <a:off x="19697700" y="16001999"/>
            <a:ext cx="10553700" cy="3034103"/>
          </a:xfrm>
          <a:prstGeom prst="rect">
            <a:avLst/>
          </a:prstGeom>
          <a:noFill/>
          <a:ln w="0">
            <a:noFill/>
          </a:ln>
        </p:spPr>
        <p:txBody>
          <a:bodyPr wrap="square" lIns="0" tIns="0" rIns="0" bIns="0" anchor="t">
            <a:noAutofit/>
          </a:bodyPr>
          <a:lstStyle/>
          <a:p>
            <a:pPr algn="l">
              <a:defRPr sz="2400" b="0">
                <a:solidFill>
                  <a:srgbClr val="172637"/>
                </a:solidFill>
                <a:latin typeface="Nimbus Sans"/>
                <a:ea typeface="Nimbus Sans"/>
                <a:cs typeface="Nimbus Sans"/>
              </a:defRPr>
            </a:pPr>
            <a:r>
              <a:rPr sz="2400" b="0" dirty="0">
                <a:solidFill>
                  <a:srgbClr val="172637"/>
                </a:solidFill>
                <a:latin typeface="Nimbus Sans"/>
                <a:ea typeface="Nimbus Sans"/>
                <a:cs typeface="Nimbus Sans"/>
              </a:rPr>
              <a:t>On Plan Gen Easy, Guided PlanForge</a:t>
            </a:r>
            <a:r>
              <a:rPr lang="en-US" sz="2400" b="0" dirty="0">
                <a:solidFill>
                  <a:srgbClr val="172637"/>
                </a:solidFill>
                <a:latin typeface="Nimbus Sans"/>
                <a:ea typeface="Nimbus Sans"/>
                <a:cs typeface="Nimbus Sans"/>
              </a:rPr>
              <a:t> uses an adopted</a:t>
            </a:r>
            <a:r>
              <a:rPr sz="2400" b="0" dirty="0">
                <a:solidFill>
                  <a:srgbClr val="172637"/>
                </a:solidFill>
                <a:latin typeface="Nimbus Sans"/>
                <a:ea typeface="Nimbus Sans"/>
                <a:cs typeface="Nimbus Sans"/>
              </a:rPr>
              <a:t> </a:t>
            </a:r>
            <a:r>
              <a:rPr sz="2400" b="0" dirty="0" err="1">
                <a:solidFill>
                  <a:srgbClr val="172637"/>
                </a:solidFill>
                <a:latin typeface="Nimbus Sans"/>
                <a:ea typeface="Nimbus Sans"/>
                <a:cs typeface="Nimbus Sans"/>
              </a:rPr>
              <a:t>AutoToS</a:t>
            </a:r>
            <a:r>
              <a:rPr lang="en-US" sz="2400" dirty="0">
                <a:solidFill>
                  <a:srgbClr val="172637"/>
                </a:solidFill>
                <a:latin typeface="Nimbus Sans"/>
                <a:ea typeface="Nimbus Sans"/>
                <a:cs typeface="Nimbus Sans"/>
              </a:rPr>
              <a:t> configuration with a</a:t>
            </a:r>
            <a:r>
              <a:rPr sz="2400" b="0" dirty="0">
                <a:solidFill>
                  <a:srgbClr val="172637"/>
                </a:solidFill>
                <a:latin typeface="Nimbus Sans"/>
                <a:ea typeface="Nimbus Sans"/>
                <a:cs typeface="Nimbus Sans"/>
              </a:rPr>
              <a:t> fixe</a:t>
            </a:r>
            <a:r>
              <a:rPr lang="en-US" sz="2400" b="0" dirty="0">
                <a:solidFill>
                  <a:srgbClr val="172637"/>
                </a:solidFill>
                <a:latin typeface="Nimbus Sans"/>
                <a:ea typeface="Nimbus Sans"/>
                <a:cs typeface="Nimbus Sans"/>
              </a:rPr>
              <a:t>d </a:t>
            </a:r>
            <a:r>
              <a:rPr sz="2400" b="0" dirty="0">
                <a:solidFill>
                  <a:srgbClr val="172637"/>
                </a:solidFill>
                <a:latin typeface="Nimbus Sans"/>
                <a:ea typeface="Nimbus Sans"/>
                <a:cs typeface="Nimbus Sans"/>
              </a:rPr>
              <a:t>PDDL</a:t>
            </a:r>
            <a:r>
              <a:rPr lang="en-US" sz="2400" b="0" dirty="0">
                <a:solidFill>
                  <a:srgbClr val="172637"/>
                </a:solidFill>
                <a:latin typeface="Nimbus Sans"/>
                <a:ea typeface="Nimbus Sans"/>
                <a:cs typeface="Nimbus Sans"/>
              </a:rPr>
              <a:t>-style state</a:t>
            </a:r>
            <a:r>
              <a:rPr sz="2400" b="0" dirty="0">
                <a:solidFill>
                  <a:srgbClr val="172637"/>
                </a:solidFill>
                <a:latin typeface="Nimbus Sans"/>
                <a:ea typeface="Nimbus Sans"/>
                <a:cs typeface="Nimbus Sans"/>
              </a:rPr>
              <a:t> representation, </a:t>
            </a:r>
            <a:r>
              <a:rPr sz="2400" b="0" dirty="0" err="1">
                <a:solidFill>
                  <a:srgbClr val="172637"/>
                </a:solidFill>
                <a:latin typeface="Nimbus Sans"/>
                <a:ea typeface="Nimbus Sans"/>
                <a:cs typeface="Nimbus Sans"/>
              </a:rPr>
              <a:t>is_goal</a:t>
            </a:r>
            <a:r>
              <a:rPr sz="2400" b="0" dirty="0">
                <a:solidFill>
                  <a:srgbClr val="172637"/>
                </a:solidFill>
                <a:latin typeface="Nimbus Sans"/>
                <a:ea typeface="Nimbus Sans"/>
                <a:cs typeface="Nimbus Sans"/>
              </a:rPr>
              <a:t> and successor functions, and greedy best-first search. Autonomous PlanForge selects the representation and solution procedure for each domain.</a:t>
            </a:r>
            <a:endParaRPr lang="en-US" sz="2400" b="0" dirty="0">
              <a:solidFill>
                <a:srgbClr val="172637"/>
              </a:solidFill>
              <a:latin typeface="Nimbus Sans"/>
              <a:ea typeface="Nimbus Sans"/>
              <a:cs typeface="Nimbus Sans"/>
            </a:endParaRPr>
          </a:p>
          <a:p>
            <a:pPr algn="l">
              <a:defRPr sz="2400" b="0">
                <a:solidFill>
                  <a:srgbClr val="172637"/>
                </a:solidFill>
                <a:latin typeface="Nimbus Sans"/>
                <a:ea typeface="Nimbus Sans"/>
                <a:cs typeface="Nimbus Sans"/>
              </a:defRPr>
            </a:pPr>
            <a:endParaRPr lang="en-US" sz="2400" dirty="0">
              <a:solidFill>
                <a:srgbClr val="172637"/>
              </a:solidFill>
              <a:latin typeface="Nimbus Sans"/>
              <a:ea typeface="Nimbus Sans"/>
              <a:cs typeface="Nimbus Sans"/>
            </a:endParaRPr>
          </a:p>
          <a:p>
            <a:pPr>
              <a:defRPr sz="2400" b="0">
                <a:solidFill>
                  <a:srgbClr val="172637"/>
                </a:solidFill>
                <a:latin typeface="Nimbus Sans"/>
                <a:ea typeface="Nimbus Sans"/>
                <a:cs typeface="Nimbus Sans"/>
              </a:defRPr>
            </a:pPr>
            <a:r>
              <a:rPr lang="en-US" sz="2400" b="1" dirty="0">
                <a:solidFill>
                  <a:srgbClr val="172637"/>
                </a:solidFill>
                <a:latin typeface="Nimbus Sans"/>
              </a:rPr>
              <a:t>Blueprint flexibility matters:</a:t>
            </a:r>
            <a:r>
              <a:rPr lang="en-US" sz="2400" dirty="0">
                <a:solidFill>
                  <a:srgbClr val="172637"/>
                </a:solidFill>
                <a:latin typeface="Nimbus Sans"/>
              </a:rPr>
              <a:t> The largest gains occur in </a:t>
            </a:r>
            <a:r>
              <a:rPr lang="en-US" sz="2400" dirty="0" err="1">
                <a:solidFill>
                  <a:srgbClr val="172637"/>
                </a:solidFill>
                <a:latin typeface="Nimbus Sans"/>
              </a:rPr>
              <a:t>Alfworld</a:t>
            </a:r>
            <a:r>
              <a:rPr lang="en-US" sz="2400" dirty="0">
                <a:solidFill>
                  <a:srgbClr val="172637"/>
                </a:solidFill>
                <a:latin typeface="Nimbus Sans"/>
              </a:rPr>
              <a:t> and Goldminer, where the fixed blueprint introduces grounding mismatches and inefficient search. This supports adapting both the representation and solving strategy to each domain.</a:t>
            </a:r>
            <a:endParaRPr sz="2400" b="0" dirty="0">
              <a:solidFill>
                <a:srgbClr val="172637"/>
              </a:solidFill>
              <a:latin typeface="Nimbus Sans"/>
              <a:ea typeface="Nimbus Sans"/>
              <a:cs typeface="Nimbus Sans"/>
            </a:endParaRPr>
          </a:p>
        </p:txBody>
      </p:sp>
      <p:sp>
        <p:nvSpPr>
          <p:cNvPr id="37" name="editable-text-31">
            <a:extLst>
              <a:ext uri="{FF2B5EF4-FFF2-40B4-BE49-F238E27FC236}">
                <a16:creationId xmlns:a16="http://schemas.microsoft.com/office/drawing/2014/main" id="{F1D7FC21-4566-4318-B5ED-CEA363BB0B6A}"/>
              </a:ext>
            </a:extLst>
          </p:cNvPr>
          <p:cNvSpPr>
            <a:spLocks noGrp="1"/>
          </p:cNvSpPr>
          <p:nvPr/>
        </p:nvSpPr>
        <p:spPr>
          <a:xfrm>
            <a:off x="19697700" y="19321982"/>
            <a:ext cx="10553700" cy="428625"/>
          </a:xfrm>
          <a:prstGeom prst="rect">
            <a:avLst/>
          </a:prstGeom>
          <a:noFill/>
          <a:ln w="0">
            <a:noFill/>
          </a:ln>
        </p:spPr>
        <p:txBody>
          <a:bodyPr wrap="square" lIns="0" tIns="0" rIns="0" bIns="0" anchor="t">
            <a:noAutofit/>
          </a:bodyPr>
          <a:lstStyle/>
          <a:p>
            <a:pPr>
              <a:defRPr sz="2550" b="1">
                <a:solidFill>
                  <a:srgbClr val="0D3075"/>
                </a:solidFill>
                <a:latin typeface="Nimbus Sans"/>
                <a:ea typeface="Nimbus Sans"/>
                <a:cs typeface="Nimbus Sans"/>
              </a:defRPr>
            </a:pPr>
            <a:r>
              <a:rPr lang="en-US" sz="2600" b="1" dirty="0">
                <a:solidFill>
                  <a:srgbClr val="0D3075"/>
                </a:solidFill>
                <a:latin typeface="Nimbus Sans"/>
                <a:ea typeface="Nimbus Sans"/>
                <a:cs typeface="Nimbus Sans"/>
              </a:rPr>
              <a:t>Guided ( 91.10%)  to Autonomous (100%) for </a:t>
            </a:r>
            <a:r>
              <a:rPr sz="2600" b="1" dirty="0">
                <a:solidFill>
                  <a:srgbClr val="0D3075"/>
                </a:solidFill>
                <a:latin typeface="Nimbus Sans"/>
                <a:ea typeface="Nimbus Sans"/>
                <a:cs typeface="Nimbus Sans"/>
              </a:rPr>
              <a:t>Plan Gen Easy accuracy (%)</a:t>
            </a:r>
            <a:r>
              <a:rPr lang="en-US" sz="2600" b="1" dirty="0">
                <a:solidFill>
                  <a:srgbClr val="0D3075"/>
                </a:solidFill>
                <a:latin typeface="Nimbus Sans"/>
                <a:ea typeface="Nimbus Sans"/>
                <a:cs typeface="Nimbus Sans"/>
              </a:rPr>
              <a:t> </a:t>
            </a:r>
            <a:endParaRPr sz="2600" b="1" dirty="0">
              <a:solidFill>
                <a:srgbClr val="0D3075"/>
              </a:solidFill>
              <a:latin typeface="Nimbus Sans"/>
              <a:ea typeface="Nimbus Sans"/>
              <a:cs typeface="Nimbus Sans"/>
            </a:endParaRPr>
          </a:p>
        </p:txBody>
      </p:sp>
      <p:sp>
        <p:nvSpPr>
          <p:cNvPr id="38" name="editable-text-32">
            <a:extLst>
              <a:ext uri="{FF2B5EF4-FFF2-40B4-BE49-F238E27FC236}">
                <a16:creationId xmlns:a16="http://schemas.microsoft.com/office/drawing/2014/main" id="{EA5698F9-153E-4C09-92C5-C08F8707BB77}"/>
              </a:ext>
            </a:extLst>
          </p:cNvPr>
          <p:cNvSpPr>
            <a:spLocks noGrp="1"/>
          </p:cNvSpPr>
          <p:nvPr/>
        </p:nvSpPr>
        <p:spPr>
          <a:xfrm>
            <a:off x="19669125" y="19842423"/>
            <a:ext cx="10553700" cy="438150"/>
          </a:xfrm>
          <a:prstGeom prst="rect">
            <a:avLst/>
          </a:prstGeom>
          <a:noFill/>
          <a:ln w="0">
            <a:noFill/>
          </a:ln>
        </p:spPr>
        <p:txBody>
          <a:bodyPr wrap="square" lIns="0" tIns="0" rIns="0" bIns="0" anchor="t">
            <a:noAutofit/>
          </a:bodyPr>
          <a:lstStyle/>
          <a:p>
            <a:pPr algn="l">
              <a:defRPr sz="2625" b="1">
                <a:solidFill>
                  <a:srgbClr val="0D3075"/>
                </a:solidFill>
                <a:latin typeface="Nimbus Sans"/>
                <a:ea typeface="Nimbus Sans"/>
                <a:cs typeface="Nimbus Sans"/>
              </a:defRPr>
            </a:pPr>
            <a:r>
              <a:rPr lang="en-US" sz="2600" b="1" dirty="0">
                <a:solidFill>
                  <a:srgbClr val="0D3075"/>
                </a:solidFill>
                <a:latin typeface="Nimbus Sans"/>
                <a:ea typeface="Nimbus Sans"/>
                <a:cs typeface="Nimbus Sans"/>
              </a:rPr>
              <a:t>Both variants are 100% for </a:t>
            </a:r>
            <a:r>
              <a:rPr lang="en-US" sz="2600" b="1" dirty="0" err="1">
                <a:solidFill>
                  <a:srgbClr val="0D3075"/>
                </a:solidFill>
                <a:latin typeface="Nimbus Sans"/>
                <a:ea typeface="Nimbus Sans"/>
                <a:cs typeface="Nimbus Sans"/>
              </a:rPr>
              <a:t>naturalPlan</a:t>
            </a:r>
            <a:endParaRPr sz="2600" b="1" dirty="0">
              <a:solidFill>
                <a:srgbClr val="0D3075"/>
              </a:solidFill>
              <a:latin typeface="Nimbus Sans"/>
              <a:ea typeface="Nimbus Sans"/>
              <a:cs typeface="Nimbus Sans"/>
            </a:endParaRPr>
          </a:p>
        </p:txBody>
      </p:sp>
      <p:sp>
        <p:nvSpPr>
          <p:cNvPr id="41" name="background-35">
            <a:extLst>
              <a:ext uri="{FF2B5EF4-FFF2-40B4-BE49-F238E27FC236}">
                <a16:creationId xmlns:a16="http://schemas.microsoft.com/office/drawing/2014/main" id="{3B77AC70-C833-4B75-90C4-DE0BD01DB008}"/>
              </a:ext>
            </a:extLst>
          </p:cNvPr>
          <p:cNvSpPr>
            <a:spLocks noGrp="1"/>
          </p:cNvSpPr>
          <p:nvPr/>
        </p:nvSpPr>
        <p:spPr>
          <a:xfrm>
            <a:off x="762000" y="21355050"/>
            <a:ext cx="23317200" cy="628650"/>
          </a:xfrm>
          <a:prstGeom prst="rect">
            <a:avLst/>
          </a:prstGeom>
          <a:solidFill>
            <a:srgbClr val="DFECFA"/>
          </a:solidFill>
          <a:ln w="0">
            <a:noFill/>
          </a:ln>
        </p:spPr>
      </p:sp>
      <p:sp>
        <p:nvSpPr>
          <p:cNvPr id="42" name="editable-text-36">
            <a:extLst>
              <a:ext uri="{FF2B5EF4-FFF2-40B4-BE49-F238E27FC236}">
                <a16:creationId xmlns:a16="http://schemas.microsoft.com/office/drawing/2014/main" id="{F54D1B74-D5E2-40A0-ACC6-FB5EF5501DF3}"/>
              </a:ext>
            </a:extLst>
          </p:cNvPr>
          <p:cNvSpPr>
            <a:spLocks noGrp="1"/>
          </p:cNvSpPr>
          <p:nvPr/>
        </p:nvSpPr>
        <p:spPr>
          <a:xfrm>
            <a:off x="933450" y="21440775"/>
            <a:ext cx="29222700" cy="495300"/>
          </a:xfrm>
          <a:prstGeom prst="rect">
            <a:avLst/>
          </a:prstGeom>
          <a:noFill/>
          <a:ln w="0">
            <a:noFill/>
          </a:ln>
        </p:spPr>
        <p:txBody>
          <a:bodyPr wrap="square" lIns="0" tIns="0" rIns="0" bIns="0" anchor="t">
            <a:noAutofit/>
          </a:bodyPr>
          <a:lstStyle/>
          <a:p>
            <a:pPr algn="l">
              <a:defRPr sz="3150" b="1">
                <a:solidFill>
                  <a:srgbClr val="0D3075"/>
                </a:solidFill>
                <a:latin typeface="Nimbus Sans"/>
                <a:ea typeface="Nimbus Sans"/>
                <a:cs typeface="Nimbus Sans"/>
              </a:defRPr>
            </a:pPr>
            <a:r>
              <a:rPr sz="3150" b="1">
                <a:solidFill>
                  <a:srgbClr val="0D3075"/>
                </a:solidFill>
                <a:latin typeface="Nimbus Sans"/>
                <a:ea typeface="Nimbus Sans"/>
                <a:cs typeface="Nimbus Sans"/>
              </a:rPr>
              <a:t>05  Planner Synthesis Cost</a:t>
            </a:r>
          </a:p>
        </p:txBody>
      </p:sp>
      <p:sp>
        <p:nvSpPr>
          <p:cNvPr id="43" name="editable-text-37">
            <a:extLst>
              <a:ext uri="{FF2B5EF4-FFF2-40B4-BE49-F238E27FC236}">
                <a16:creationId xmlns:a16="http://schemas.microsoft.com/office/drawing/2014/main" id="{B2ACD734-7BAA-4E61-903D-C577CC363B22}"/>
              </a:ext>
            </a:extLst>
          </p:cNvPr>
          <p:cNvSpPr>
            <a:spLocks noGrp="1"/>
          </p:cNvSpPr>
          <p:nvPr/>
        </p:nvSpPr>
        <p:spPr>
          <a:xfrm>
            <a:off x="838200" y="22126575"/>
            <a:ext cx="23241000" cy="438150"/>
          </a:xfrm>
          <a:prstGeom prst="rect">
            <a:avLst/>
          </a:prstGeom>
          <a:noFill/>
          <a:ln w="0">
            <a:noFill/>
          </a:ln>
        </p:spPr>
        <p:txBody>
          <a:bodyPr wrap="square" lIns="0" tIns="0" rIns="0" bIns="0" anchor="t">
            <a:noAutofit/>
          </a:bodyPr>
          <a:lstStyle/>
          <a:p>
            <a:pPr algn="l">
              <a:defRPr sz="2400" b="0">
                <a:solidFill>
                  <a:srgbClr val="172637"/>
                </a:solidFill>
                <a:latin typeface="Nimbus Sans"/>
                <a:ea typeface="Nimbus Sans"/>
                <a:cs typeface="Nimbus Sans"/>
              </a:defRPr>
            </a:pPr>
            <a:r>
              <a:rPr sz="2400" b="0">
                <a:solidFill>
                  <a:srgbClr val="172637"/>
                </a:solidFill>
                <a:latin typeface="Nimbus Sans"/>
                <a:ea typeface="Nimbus Sans"/>
                <a:cs typeface="Nimbus Sans"/>
              </a:rPr>
              <a:t>A one-time synthesis cost enables reuse without additional LLM calls. CoT and SCOPE invoke a model for each new instance.</a:t>
            </a:r>
          </a:p>
        </p:txBody>
      </p:sp>
      <p:pic>
        <p:nvPicPr>
          <p:cNvPr id="91" name="Picture 90"/>
          <p:cNvPicPr>
            <a:picLocks noChangeAspect="1"/>
          </p:cNvPicPr>
          <p:nvPr/>
        </p:nvPicPr>
        <p:blipFill>
          <a:blip r:embed="rId7"/>
          <a:stretch/>
        </p:blipFill>
        <p:spPr>
          <a:xfrm>
            <a:off x="838200" y="22620610"/>
            <a:ext cx="23241000" cy="7308205"/>
          </a:xfrm>
          <a:prstGeom prst="rect">
            <a:avLst/>
          </a:prstGeom>
        </p:spPr>
      </p:pic>
      <p:sp>
        <p:nvSpPr>
          <p:cNvPr id="47" name="editable-text-40">
            <a:extLst>
              <a:ext uri="{FF2B5EF4-FFF2-40B4-BE49-F238E27FC236}">
                <a16:creationId xmlns:a16="http://schemas.microsoft.com/office/drawing/2014/main" id="{19BD6487-5C9D-4FBB-81B2-C1280A9A6BD3}"/>
              </a:ext>
            </a:extLst>
          </p:cNvPr>
          <p:cNvSpPr>
            <a:spLocks noGrp="1"/>
          </p:cNvSpPr>
          <p:nvPr/>
        </p:nvSpPr>
        <p:spPr>
          <a:xfrm>
            <a:off x="24755474" y="21431083"/>
            <a:ext cx="5419725" cy="4794885"/>
          </a:xfrm>
          <a:prstGeom prst="rect">
            <a:avLst/>
          </a:prstGeom>
          <a:noFill/>
          <a:ln w="0">
            <a:noFill/>
          </a:ln>
        </p:spPr>
        <p:txBody>
          <a:bodyPr wrap="square" lIns="0" tIns="0" rIns="0" bIns="0" anchor="t">
            <a:noAutofit/>
          </a:bodyPr>
          <a:lstStyle/>
          <a:p>
            <a:pPr marL="342900" indent="-342900">
              <a:buFont typeface="Arial" panose="020B0604020202020204" pitchFamily="34" charset="0"/>
              <a:buChar char="•"/>
              <a:defRPr sz="2325" b="0">
                <a:solidFill>
                  <a:srgbClr val="172637"/>
                </a:solidFill>
                <a:latin typeface="Nimbus Sans"/>
                <a:ea typeface="Nimbus Sans"/>
                <a:cs typeface="Nimbus Sans"/>
              </a:defRPr>
            </a:pPr>
            <a:r>
              <a:rPr lang="en-US" sz="2600" b="1" dirty="0">
                <a:solidFill>
                  <a:srgbClr val="172637"/>
                </a:solidFill>
                <a:latin typeface="Nimbus Sans"/>
              </a:rPr>
              <a:t>Higher planning accuracy:</a:t>
            </a:r>
            <a:r>
              <a:rPr lang="en-US" sz="2600" dirty="0">
                <a:solidFill>
                  <a:srgbClr val="172637"/>
                </a:solidFill>
                <a:latin typeface="Nimbus Sans"/>
              </a:rPr>
              <a:t> PlanForge achieves 100% success on </a:t>
            </a:r>
            <a:r>
              <a:rPr lang="en-US" sz="2600" dirty="0" err="1">
                <a:solidFill>
                  <a:srgbClr val="172637"/>
                </a:solidFill>
                <a:latin typeface="Nimbus Sans"/>
              </a:rPr>
              <a:t>NaturalPlan</a:t>
            </a:r>
            <a:r>
              <a:rPr lang="en-US" sz="2600" dirty="0">
                <a:solidFill>
                  <a:srgbClr val="172637"/>
                </a:solidFill>
                <a:latin typeface="Nimbus Sans"/>
              </a:rPr>
              <a:t> and </a:t>
            </a:r>
            <a:r>
              <a:rPr lang="en-US" sz="2600" dirty="0" err="1">
                <a:solidFill>
                  <a:srgbClr val="172637"/>
                </a:solidFill>
                <a:latin typeface="Nimbus Sans"/>
              </a:rPr>
              <a:t>StructureSAT</a:t>
            </a:r>
            <a:r>
              <a:rPr lang="en-US" sz="2600" dirty="0">
                <a:solidFill>
                  <a:srgbClr val="172637"/>
                </a:solidFill>
                <a:latin typeface="Nimbus Sans"/>
              </a:rPr>
              <a:t> and 92.41% VAL-verified accuracy on Plan Gen., outperforming the evaluated baselines.</a:t>
            </a:r>
          </a:p>
          <a:p>
            <a:pPr marL="342900" indent="-342900">
              <a:buFont typeface="Arial" panose="020B0604020202020204" pitchFamily="34" charset="0"/>
              <a:buChar char="•"/>
              <a:defRPr sz="2325" b="0">
                <a:solidFill>
                  <a:srgbClr val="172637"/>
                </a:solidFill>
                <a:latin typeface="Nimbus Sans"/>
                <a:ea typeface="Nimbus Sans"/>
                <a:cs typeface="Nimbus Sans"/>
              </a:defRPr>
            </a:pPr>
            <a:r>
              <a:rPr lang="en-US" sz="2600" b="1" dirty="0">
                <a:solidFill>
                  <a:srgbClr val="172637"/>
                </a:solidFill>
                <a:latin typeface="Nimbus Sans"/>
              </a:rPr>
              <a:t>Compile once, reuse without test-time LLM calls:</a:t>
            </a:r>
            <a:r>
              <a:rPr lang="en-US" sz="2600" dirty="0">
                <a:solidFill>
                  <a:srgbClr val="172637"/>
                </a:solidFill>
                <a:latin typeface="Nimbus Sans"/>
              </a:rPr>
              <a:t> Synthesized planners execute locally on new instances within the evaluated task families, amortizing the one-time synthesis cost across repeated use.</a:t>
            </a:r>
            <a:endParaRPr sz="2600" b="0" dirty="0">
              <a:solidFill>
                <a:srgbClr val="172637"/>
              </a:solidFill>
              <a:latin typeface="Nimbus Sans"/>
              <a:ea typeface="Nimbus Sans"/>
              <a:cs typeface="Nimbus Sans"/>
            </a:endParaRPr>
          </a:p>
        </p:txBody>
      </p:sp>
      <p:sp>
        <p:nvSpPr>
          <p:cNvPr id="4" name="background-38">
            <a:extLst>
              <a:ext uri="{FF2B5EF4-FFF2-40B4-BE49-F238E27FC236}">
                <a16:creationId xmlns:a16="http://schemas.microsoft.com/office/drawing/2014/main" id="{BC08A508-A8BC-628A-2CC4-5B188FA34A26}"/>
              </a:ext>
            </a:extLst>
          </p:cNvPr>
          <p:cNvSpPr>
            <a:spLocks noGrp="1"/>
          </p:cNvSpPr>
          <p:nvPr/>
        </p:nvSpPr>
        <p:spPr>
          <a:xfrm>
            <a:off x="24755475" y="20556928"/>
            <a:ext cx="5419725" cy="628650"/>
          </a:xfrm>
          <a:prstGeom prst="rect">
            <a:avLst/>
          </a:prstGeom>
          <a:solidFill>
            <a:srgbClr val="DFECFA"/>
          </a:solidFill>
          <a:ln w="0">
            <a:noFill/>
          </a:ln>
        </p:spPr>
      </p:sp>
      <p:sp>
        <p:nvSpPr>
          <p:cNvPr id="24" name="editable-text-39">
            <a:extLst>
              <a:ext uri="{FF2B5EF4-FFF2-40B4-BE49-F238E27FC236}">
                <a16:creationId xmlns:a16="http://schemas.microsoft.com/office/drawing/2014/main" id="{8EF9FB60-01AF-A626-EF81-CFA6453781FB}"/>
              </a:ext>
            </a:extLst>
          </p:cNvPr>
          <p:cNvSpPr>
            <a:spLocks noGrp="1"/>
          </p:cNvSpPr>
          <p:nvPr/>
        </p:nvSpPr>
        <p:spPr>
          <a:xfrm>
            <a:off x="24926926" y="20642653"/>
            <a:ext cx="3714750" cy="495300"/>
          </a:xfrm>
          <a:prstGeom prst="rect">
            <a:avLst/>
          </a:prstGeom>
          <a:noFill/>
          <a:ln w="0">
            <a:noFill/>
          </a:ln>
        </p:spPr>
        <p:txBody>
          <a:bodyPr wrap="square" lIns="0" tIns="0" rIns="0" bIns="0" anchor="t">
            <a:noAutofit/>
          </a:bodyPr>
          <a:lstStyle/>
          <a:p>
            <a:pPr algn="l">
              <a:defRPr sz="3150" b="1">
                <a:solidFill>
                  <a:srgbClr val="0D3075"/>
                </a:solidFill>
                <a:latin typeface="Nimbus Sans"/>
                <a:ea typeface="Nimbus Sans"/>
                <a:cs typeface="Nimbus Sans"/>
              </a:defRPr>
            </a:pPr>
            <a:r>
              <a:rPr sz="3150" b="1" dirty="0">
                <a:solidFill>
                  <a:srgbClr val="0D3075"/>
                </a:solidFill>
                <a:latin typeface="Nimbus Sans"/>
                <a:ea typeface="Nimbus Sans"/>
                <a:cs typeface="Nimbus Sans"/>
              </a:rPr>
              <a:t>06 Conclusion</a:t>
            </a:r>
          </a:p>
        </p:txBody>
      </p:sp>
      <p:sp>
        <p:nvSpPr>
          <p:cNvPr id="44" name="background-38">
            <a:extLst>
              <a:ext uri="{FF2B5EF4-FFF2-40B4-BE49-F238E27FC236}">
                <a16:creationId xmlns:a16="http://schemas.microsoft.com/office/drawing/2014/main" id="{6EF69931-3DBF-12BC-FC18-8ABC1F28F1ED}"/>
              </a:ext>
            </a:extLst>
          </p:cNvPr>
          <p:cNvSpPr>
            <a:spLocks noGrp="1"/>
          </p:cNvSpPr>
          <p:nvPr/>
        </p:nvSpPr>
        <p:spPr>
          <a:xfrm>
            <a:off x="24755475" y="26388197"/>
            <a:ext cx="5419725" cy="628650"/>
          </a:xfrm>
          <a:prstGeom prst="rect">
            <a:avLst/>
          </a:prstGeom>
          <a:solidFill>
            <a:srgbClr val="DFECFA"/>
          </a:solidFill>
          <a:ln w="0">
            <a:noFill/>
          </a:ln>
        </p:spPr>
      </p:sp>
      <p:sp>
        <p:nvSpPr>
          <p:cNvPr id="52" name="editable-text-39">
            <a:extLst>
              <a:ext uri="{FF2B5EF4-FFF2-40B4-BE49-F238E27FC236}">
                <a16:creationId xmlns:a16="http://schemas.microsoft.com/office/drawing/2014/main" id="{FCCBB592-F7C7-8432-3BFC-FB1A0353DE42}"/>
              </a:ext>
            </a:extLst>
          </p:cNvPr>
          <p:cNvSpPr>
            <a:spLocks noGrp="1"/>
          </p:cNvSpPr>
          <p:nvPr/>
        </p:nvSpPr>
        <p:spPr>
          <a:xfrm>
            <a:off x="24926926" y="26473922"/>
            <a:ext cx="3714750" cy="495300"/>
          </a:xfrm>
          <a:prstGeom prst="rect">
            <a:avLst/>
          </a:prstGeom>
          <a:noFill/>
          <a:ln w="0">
            <a:noFill/>
          </a:ln>
        </p:spPr>
        <p:txBody>
          <a:bodyPr wrap="square" lIns="0" tIns="0" rIns="0" bIns="0" anchor="t">
            <a:noAutofit/>
          </a:bodyPr>
          <a:lstStyle/>
          <a:p>
            <a:pPr algn="l">
              <a:defRPr sz="3150" b="1">
                <a:solidFill>
                  <a:srgbClr val="0D3075"/>
                </a:solidFill>
                <a:latin typeface="Nimbus Sans"/>
                <a:ea typeface="Nimbus Sans"/>
                <a:cs typeface="Nimbus Sans"/>
              </a:defRPr>
            </a:pPr>
            <a:r>
              <a:rPr lang="en-US" sz="3150" b="1" dirty="0">
                <a:solidFill>
                  <a:srgbClr val="0D3075"/>
                </a:solidFill>
                <a:latin typeface="Nimbus Sans"/>
                <a:ea typeface="Nimbus Sans"/>
                <a:cs typeface="Nimbus Sans"/>
              </a:rPr>
              <a:t>References</a:t>
            </a:r>
            <a:endParaRPr sz="3150" b="1" dirty="0">
              <a:solidFill>
                <a:srgbClr val="0D3075"/>
              </a:solidFill>
              <a:latin typeface="Nimbus Sans"/>
              <a:ea typeface="Nimbus Sans"/>
              <a:cs typeface="Nimbus Sans"/>
            </a:endParaRPr>
          </a:p>
        </p:txBody>
      </p:sp>
      <p:sp>
        <p:nvSpPr>
          <p:cNvPr id="54" name="TextBox 53">
            <a:extLst>
              <a:ext uri="{FF2B5EF4-FFF2-40B4-BE49-F238E27FC236}">
                <a16:creationId xmlns:a16="http://schemas.microsoft.com/office/drawing/2014/main" id="{A045053E-DCB4-EB28-BC15-4AB84CEC181C}"/>
              </a:ext>
            </a:extLst>
          </p:cNvPr>
          <p:cNvSpPr txBox="1"/>
          <p:nvPr/>
        </p:nvSpPr>
        <p:spPr>
          <a:xfrm>
            <a:off x="24755475" y="27359657"/>
            <a:ext cx="5419725" cy="2585323"/>
          </a:xfrm>
          <a:prstGeom prst="rect">
            <a:avLst/>
          </a:prstGeom>
          <a:noFill/>
        </p:spPr>
        <p:txBody>
          <a:bodyPr wrap="square">
            <a:spAutoFit/>
          </a:bodyPr>
          <a:lstStyle/>
          <a:p>
            <a:pPr marL="285750" indent="-285750">
              <a:buFont typeface="Arial" panose="020B0604020202020204" pitchFamily="34" charset="0"/>
              <a:buChar char="•"/>
            </a:pPr>
            <a:r>
              <a:rPr lang="en-US" dirty="0"/>
              <a:t>Daniel Cao, Michael Katz, Harsha Kokel, Kavitha Srinivas, and Shirin Sohrabi. 2026. Automating Thought of Search: A journey towards soundness and completeness. In ICAPS.</a:t>
            </a:r>
          </a:p>
          <a:p>
            <a:pPr marL="285750" indent="-285750">
              <a:buFont typeface="Arial" panose="020B0604020202020204" pitchFamily="34" charset="0"/>
              <a:buChar char="•"/>
            </a:pPr>
            <a:r>
              <a:rPr lang="en-US" dirty="0"/>
              <a:t>Subbarao Kambhampati, Karthik </a:t>
            </a:r>
            <a:r>
              <a:rPr lang="en-US" dirty="0" err="1"/>
              <a:t>Valmeekam</a:t>
            </a:r>
            <a:r>
              <a:rPr lang="en-US" dirty="0"/>
              <a:t>, Lin Guan, Mudit Verma, Kaya </a:t>
            </a:r>
            <a:r>
              <a:rPr lang="en-US" dirty="0" err="1"/>
              <a:t>Stechly</a:t>
            </a:r>
            <a:r>
              <a:rPr lang="en-US" dirty="0"/>
              <a:t>, Siddhant Bhambri, Lucas </a:t>
            </a:r>
            <a:r>
              <a:rPr lang="en-US" dirty="0" err="1"/>
              <a:t>Saldyt</a:t>
            </a:r>
            <a:r>
              <a:rPr lang="en-US" dirty="0"/>
              <a:t>, and Anil Murthy. 2024. Position: </a:t>
            </a:r>
            <a:r>
              <a:rPr lang="en-US" dirty="0" err="1"/>
              <a:t>Llms</a:t>
            </a:r>
            <a:r>
              <a:rPr lang="en-US" dirty="0"/>
              <a:t> can’t plan, but can help planning in </a:t>
            </a:r>
            <a:r>
              <a:rPr lang="en-US" dirty="0" err="1"/>
              <a:t>llm</a:t>
            </a:r>
            <a:r>
              <a:rPr lang="en-US" dirty="0"/>
              <a:t>-modulo frameworks. In ICML.</a:t>
            </a:r>
          </a:p>
        </p:txBody>
      </p:sp>
      <p:sp>
        <p:nvSpPr>
          <p:cNvPr id="2" name="TextBox 1">
            <a:extLst>
              <a:ext uri="{FF2B5EF4-FFF2-40B4-BE49-F238E27FC236}">
                <a16:creationId xmlns:a16="http://schemas.microsoft.com/office/drawing/2014/main" id="{05DB292E-3610-0C45-4AF3-3DC81DD1E7BE}"/>
              </a:ext>
            </a:extLst>
          </p:cNvPr>
          <p:cNvSpPr txBox="1"/>
          <p:nvPr/>
        </p:nvSpPr>
        <p:spPr>
          <a:xfrm>
            <a:off x="933450" y="30476309"/>
            <a:ext cx="8675077" cy="400110"/>
          </a:xfrm>
          <a:prstGeom prst="rect">
            <a:avLst/>
          </a:prstGeom>
          <a:noFill/>
        </p:spPr>
        <p:txBody>
          <a:bodyPr wrap="square" rtlCol="0">
            <a:spAutoFit/>
          </a:bodyPr>
          <a:lstStyle/>
          <a:p>
            <a:r>
              <a:rPr lang="en-US" sz="2000" dirty="0">
                <a:solidFill>
                  <a:srgbClr val="465463"/>
                </a:solidFill>
                <a:latin typeface="Nimbus Sans"/>
                <a:ea typeface="Nimbus Sans"/>
                <a:cs typeface="Nimbus Sans"/>
              </a:rPr>
              <a:t>Foot note : * Equal contribution</a:t>
            </a:r>
            <a:endParaRPr lang="en-US" sz="2000" dirty="0"/>
          </a:p>
        </p:txBody>
      </p:sp>
      <p:sp>
        <p:nvSpPr>
          <p:cNvPr id="15" name="TextBox 14">
            <a:extLst>
              <a:ext uri="{FF2B5EF4-FFF2-40B4-BE49-F238E27FC236}">
                <a16:creationId xmlns:a16="http://schemas.microsoft.com/office/drawing/2014/main" id="{3AB3FBFF-3AA5-D1E9-9D33-DD776C9AF425}"/>
              </a:ext>
            </a:extLst>
          </p:cNvPr>
          <p:cNvSpPr txBox="1"/>
          <p:nvPr/>
        </p:nvSpPr>
        <p:spPr>
          <a:xfrm>
            <a:off x="26706195" y="30413295"/>
            <a:ext cx="4175759" cy="400110"/>
          </a:xfrm>
          <a:prstGeom prst="rect">
            <a:avLst/>
          </a:prstGeom>
          <a:noFill/>
        </p:spPr>
        <p:txBody>
          <a:bodyPr wrap="square" rtlCol="0">
            <a:spAutoFit/>
          </a:bodyPr>
          <a:lstStyle/>
          <a:p>
            <a:r>
              <a:rPr lang="en-US" sz="2000" dirty="0">
                <a:hlinkClick r:id="rId8"/>
              </a:rPr>
              <a:t>planforge-abr.github.io/</a:t>
            </a:r>
            <a:endParaRPr lang="en-US" sz="2000" dirty="0"/>
          </a:p>
        </p:txBody>
      </p:sp>
    </p:spTree>
    <p:extLst>
      <p:ext uri="{BB962C8B-B14F-4D97-AF65-F5344CB8AC3E}">
        <p14:creationId xmlns:p14="http://schemas.microsoft.com/office/powerpoint/2010/main" val="127592478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TotalTime>
  <Words>1203</Words>
  <Application>Microsoft Office PowerPoint</Application>
  <DocSecurity>0</DocSecurity>
  <PresentationFormat>Custom</PresentationFormat>
  <Paragraphs>82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Nimbus Sans</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Ravi teja reddy Bommi reddy</cp:lastModifiedBy>
  <cp:revision>4</cp:revision>
  <dcterms:created xsi:type="dcterms:W3CDTF">2026-10-07T19:42:47Z</dcterms:created>
  <dcterms:modified xsi:type="dcterms:W3CDTF">2026-10-08T19:40:34Z</dcterms:modified>
</cp:coreProperties>
</file>